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5303520" y="3566160"/>
            <a:ext cx="-2702722" cy="-724192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5303520" y="3566160"/>
            <a:ext cx="-431806" cy="-2764544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5303520" y="3566160"/>
            <a:ext cx="2353146" cy="-1513891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303520" y="3566160"/>
            <a:ext cx="2798024" cy="14950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5303520" y="3566160"/>
            <a:ext cx="1118923" cy="2564600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5303520" y="3566160"/>
            <a:ext cx="-1463259" cy="2384960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303520" y="3566160"/>
            <a:ext cx="-2710306" cy="695271"/>
          </a:xfrm>
          <a:prstGeom prst="line">
            <a:avLst/>
          </a:prstGeom>
          <a:noFill/>
          <a:ln w="6350">
            <a:solidFill>
              <a:srgbClr val="1E3A5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2670048" y="932688"/>
            <a:ext cx="5266944" cy="5266944"/>
          </a:xfrm>
          <a:prstGeom prst="ellipse">
            <a:avLst/>
          </a:prstGeom>
          <a:solidFill>
            <a:srgbClr val="111A28">
              <a:alpha val="35000"/>
            </a:srgbClr>
          </a:solidFill>
          <a:ln w="19050">
            <a:solidFill>
              <a:srgbClr val="111A28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73552" y="1536192"/>
            <a:ext cx="4059936" cy="4059936"/>
          </a:xfrm>
          <a:prstGeom prst="ellipse">
            <a:avLst/>
          </a:prstGeom>
          <a:solidFill>
            <a:srgbClr val="1A3E5A">
              <a:alpha val="22000"/>
            </a:srgbClr>
          </a:solidFill>
          <a:ln w="19050">
            <a:solidFill>
              <a:srgbClr val="1A3E5A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13632" y="2176272"/>
            <a:ext cx="2779776" cy="2779776"/>
          </a:xfrm>
          <a:prstGeom prst="ellipse">
            <a:avLst/>
          </a:prstGeom>
          <a:solidFill>
            <a:srgbClr val="B8860B">
              <a:alpha val="22000"/>
            </a:srgbClr>
          </a:solidFill>
          <a:ln w="19050">
            <a:solidFill>
              <a:srgbClr val="B8860B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2834640"/>
            <a:ext cx="1463040" cy="1463040"/>
          </a:xfrm>
          <a:prstGeom prst="ellipse">
            <a:avLst/>
          </a:prstGeom>
          <a:solidFill>
            <a:srgbClr val="CC3322">
              <a:alpha val="12000"/>
            </a:srgbClr>
          </a:solidFill>
          <a:ln w="19050">
            <a:solidFill>
              <a:srgbClr val="CC3322">
                <a:alpha val="45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31188" y="416913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9088"/>
                </a:solidFill>
              </a:rPr>
              <a:t>CRITICAL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5109427" y="476582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060"/>
                </a:solidFill>
              </a:rPr>
              <a:t>HIGH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5379936" y="5345931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0B8E8"/>
                </a:solidFill>
              </a:rPr>
              <a:t>MEDIUM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5634988" y="589289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A8A8E8"/>
                </a:solidFill>
              </a:rPr>
              <a:t>MONITOR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844140" y="3283532"/>
            <a:ext cx="201168" cy="201168"/>
          </a:xfrm>
          <a:prstGeom prst="ellipse">
            <a:avLst/>
          </a:prstGeom>
          <a:solidFill>
            <a:srgbClr val="00E5A0">
              <a:alpha val="45000"/>
            </a:srgbClr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91689" y="3331081"/>
            <a:ext cx="106070" cy="106070"/>
          </a:xfrm>
          <a:prstGeom prst="ellipse">
            <a:avLst/>
          </a:prstGeom>
          <a:solidFill>
            <a:srgbClr val="00E5A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170966" y="3183367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E5A0"/>
                </a:solidFill>
              </a:rPr>
              <a:t>HLE ✓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107746" y="3136960"/>
            <a:ext cx="106070" cy="106070"/>
          </a:xfrm>
          <a:prstGeom prst="ellipse">
            <a:avLst/>
          </a:prstGeom>
          <a:solidFill>
            <a:srgbClr val="E85D4A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95052" y="2892185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9088"/>
                </a:solidFill>
              </a:rPr>
              <a:t>FrontierMath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30346" y="3108971"/>
            <a:ext cx="106070" cy="106070"/>
          </a:xfrm>
          <a:prstGeom prst="ellipse">
            <a:avLst/>
          </a:prstGeom>
          <a:solidFill>
            <a:srgbClr val="E85D4A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27499" y="2988287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D060"/>
                </a:solidFill>
              </a:rPr>
              <a:t>AIME 2025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517133" y="2696903"/>
            <a:ext cx="106070" cy="106070"/>
          </a:xfrm>
          <a:prstGeom prst="ellipse">
            <a:avLst/>
          </a:prstGeom>
          <a:solidFill>
            <a:srgbClr val="E85D4A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59694" y="2510975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D060"/>
                </a:solidFill>
              </a:rPr>
              <a:t>AIME 2026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957438" y="2455700"/>
            <a:ext cx="106070" cy="106070"/>
          </a:xfrm>
          <a:prstGeom prst="ellipse">
            <a:avLst/>
          </a:prstGeom>
          <a:solidFill>
            <a:srgbClr val="E85D4A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369714" y="223158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D060"/>
                </a:solidFill>
              </a:rPr>
              <a:t>ARC-AGI-2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083233" y="2213971"/>
            <a:ext cx="106070" cy="106070"/>
          </a:xfrm>
          <a:prstGeom prst="ellipse">
            <a:avLst/>
          </a:prstGeom>
          <a:solidFill>
            <a:srgbClr val="E85D4A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38017" y="2041647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B8E8"/>
                </a:solidFill>
              </a:rPr>
              <a:t>MATH-500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048685" y="2640826"/>
            <a:ext cx="106070" cy="106070"/>
          </a:xfrm>
          <a:prstGeom prst="ellipse">
            <a:avLst/>
          </a:prstGeom>
          <a:solidFill>
            <a:srgbClr val="8888CC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362841" y="252687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CC"/>
                </a:solidFill>
              </a:rPr>
              <a:t>GPQA Diamond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617992" y="1230850"/>
            <a:ext cx="106070" cy="106070"/>
          </a:xfrm>
          <a:prstGeom prst="ellipse">
            <a:avLst/>
          </a:prstGeom>
          <a:solidFill>
            <a:srgbClr val="8888CC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035152" y="1024355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CC"/>
                </a:solidFill>
              </a:rPr>
              <a:t>MMLU-Pro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271713" y="3111349"/>
            <a:ext cx="106070" cy="106070"/>
          </a:xfrm>
          <a:prstGeom prst="ellipse">
            <a:avLst/>
          </a:prstGeom>
          <a:solidFill>
            <a:srgbClr val="4A90D9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741003" y="2853769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9088"/>
                </a:solidFill>
              </a:rPr>
              <a:t>SWE-Bench Pro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415307" y="3146099"/>
            <a:ext cx="106070" cy="106070"/>
          </a:xfrm>
          <a:prstGeom prst="ellipse">
            <a:avLst/>
          </a:prstGeom>
          <a:solidFill>
            <a:srgbClr val="4A90D9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956393" y="2905893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9088"/>
                </a:solidFill>
              </a:rPr>
              <a:t>Terminal-Bench 4.0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536677" y="3230338"/>
            <a:ext cx="106070" cy="106070"/>
          </a:xfrm>
          <a:prstGeom prst="ellipse">
            <a:avLst/>
          </a:prstGeom>
          <a:solidFill>
            <a:srgbClr val="4A90D9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38448" y="3032251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9088"/>
                </a:solidFill>
              </a:rPr>
              <a:t>FrontierCode Diamond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207113" y="2416702"/>
            <a:ext cx="106070" cy="106070"/>
          </a:xfrm>
          <a:prstGeom prst="ellipse">
            <a:avLst/>
          </a:prstGeom>
          <a:solidFill>
            <a:srgbClr val="4A90D9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658921" y="2186409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D060"/>
                </a:solidFill>
              </a:rPr>
              <a:t>LiveCodeBench v6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700000" y="2512146"/>
            <a:ext cx="106070" cy="106070"/>
          </a:xfrm>
          <a:prstGeom prst="ellipse">
            <a:avLst/>
          </a:prstGeom>
          <a:solidFill>
            <a:srgbClr val="4A90D9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229848" y="229696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D060"/>
                </a:solidFill>
              </a:rPr>
              <a:t>DeepSWE v1.1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098787" y="2817131"/>
            <a:ext cx="106070" cy="106070"/>
          </a:xfrm>
          <a:prstGeom prst="ellipse">
            <a:avLst/>
          </a:prstGeom>
          <a:solidFill>
            <a:srgbClr val="4A90D9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691776" y="2650239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D060"/>
                </a:solidFill>
              </a:rPr>
              <a:t>SWE-Bench Multilingual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181451" y="1767986"/>
            <a:ext cx="106070" cy="106070"/>
          </a:xfrm>
          <a:prstGeom prst="ellipse">
            <a:avLst/>
          </a:prstGeom>
          <a:solidFill>
            <a:srgbClr val="4A90D9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633982" y="155596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B8E8"/>
                </a:solidFill>
              </a:rPr>
              <a:t>BigCodeBench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600699" y="2405335"/>
            <a:ext cx="106070" cy="106070"/>
          </a:xfrm>
          <a:prstGeom prst="ellipse">
            <a:avLst/>
          </a:prstGeom>
          <a:solidFill>
            <a:srgbClr val="4A90D9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179550" y="2250043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B8E8"/>
                </a:solidFill>
              </a:rPr>
              <a:t>SciCode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89249" y="3353163"/>
            <a:ext cx="201168" cy="201168"/>
          </a:xfrm>
          <a:prstGeom prst="ellipse">
            <a:avLst/>
          </a:prstGeom>
          <a:solidFill>
            <a:srgbClr val="00E5A0">
              <a:alpha val="45000"/>
            </a:srgbClr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636798" y="3400712"/>
            <a:ext cx="106070" cy="106070"/>
          </a:xfrm>
          <a:prstGeom prst="ellipse">
            <a:avLst/>
          </a:prstGeom>
          <a:solidFill>
            <a:srgbClr val="00E5A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288629" y="328781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E5A0"/>
                </a:solidFill>
              </a:rPr>
              <a:t>MRCR v2 ✓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205989" y="2973649"/>
            <a:ext cx="106070" cy="106070"/>
          </a:xfrm>
          <a:prstGeom prst="ellipse">
            <a:avLst/>
          </a:prstGeom>
          <a:solidFill>
            <a:srgbClr val="7B68E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815953" y="2831539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D060"/>
                </a:solidFill>
              </a:rPr>
              <a:t>GraphWalks BFS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304065" y="3206543"/>
            <a:ext cx="106070" cy="106070"/>
          </a:xfrm>
          <a:prstGeom prst="ellipse">
            <a:avLst/>
          </a:prstGeom>
          <a:solidFill>
            <a:srgbClr val="7B68E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929557" y="310130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D060"/>
                </a:solidFill>
              </a:rPr>
              <a:t>NoLiMa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6346261" y="3455698"/>
            <a:ext cx="106070" cy="106070"/>
          </a:xfrm>
          <a:prstGeom prst="ellipse">
            <a:avLst/>
          </a:prstGeom>
          <a:solidFill>
            <a:srgbClr val="7B68E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978434" y="338991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D060"/>
                </a:solidFill>
              </a:rPr>
              <a:t>RULER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927433" y="3025149"/>
            <a:ext cx="106070" cy="106070"/>
          </a:xfrm>
          <a:prstGeom prst="ellipse">
            <a:avLst/>
          </a:prstGeom>
          <a:solidFill>
            <a:srgbClr val="7B68E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535366" y="292502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B8E8"/>
                </a:solidFill>
              </a:rPr>
              <a:t>LongBench v2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292226" y="3597749"/>
            <a:ext cx="201168" cy="201168"/>
          </a:xfrm>
          <a:prstGeom prst="ellipse">
            <a:avLst/>
          </a:prstGeom>
          <a:solidFill>
            <a:srgbClr val="00E5A0">
              <a:alpha val="45000"/>
            </a:srgbClr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39775" y="3645298"/>
            <a:ext cx="106070" cy="106070"/>
          </a:xfrm>
          <a:prstGeom prst="ellipse">
            <a:avLst/>
          </a:prstGeom>
          <a:solidFill>
            <a:srgbClr val="00E5A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970921" y="360953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E5A0"/>
                </a:solidFill>
              </a:rPr>
              <a:t>MathVista ✓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5802168" y="4461633"/>
            <a:ext cx="106070" cy="106070"/>
          </a:xfrm>
          <a:prstGeom prst="ellipse">
            <a:avLst/>
          </a:prstGeom>
          <a:solidFill>
            <a:srgbClr val="F0A50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348193" y="4555121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D060"/>
                </a:solidFill>
              </a:rPr>
              <a:t>MMMU-Pro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6984272" y="3723500"/>
            <a:ext cx="106070" cy="106070"/>
          </a:xfrm>
          <a:prstGeom prst="ellipse">
            <a:avLst/>
          </a:prstGeom>
          <a:solidFill>
            <a:srgbClr val="F0A50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97263" y="368553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B8E8"/>
                </a:solidFill>
              </a:rPr>
              <a:t>CharXiv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6916174" y="4038249"/>
            <a:ext cx="106070" cy="106070"/>
          </a:xfrm>
          <a:prstGeom prst="ellipse">
            <a:avLst/>
          </a:prstGeom>
          <a:solidFill>
            <a:srgbClr val="F0A50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523104" y="4028295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B8E8"/>
                </a:solidFill>
              </a:rPr>
              <a:t>CharXiv-R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791445" y="4335145"/>
            <a:ext cx="106070" cy="106070"/>
          </a:xfrm>
          <a:prstGeom prst="ellipse">
            <a:avLst/>
          </a:prstGeom>
          <a:solidFill>
            <a:srgbClr val="F0A50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387274" y="4351617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B8E8"/>
                </a:solidFill>
              </a:rPr>
              <a:t>DocVQA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6614326" y="4604094"/>
            <a:ext cx="106070" cy="106070"/>
          </a:xfrm>
          <a:prstGeom prst="ellipse">
            <a:avLst/>
          </a:prstGeom>
          <a:solidFill>
            <a:srgbClr val="F0A50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6194390" y="4644503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B8E8"/>
                </a:solidFill>
              </a:rPr>
              <a:t>MathVision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6390839" y="4835951"/>
            <a:ext cx="106070" cy="106070"/>
          </a:xfrm>
          <a:prstGeom prst="ellipse">
            <a:avLst/>
          </a:prstGeom>
          <a:solidFill>
            <a:srgbClr val="F0A50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951011" y="4896997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B8E8"/>
                </a:solidFill>
              </a:rPr>
              <a:t>MMVU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6128581" y="5022834"/>
            <a:ext cx="106070" cy="106070"/>
          </a:xfrm>
          <a:prstGeom prst="ellipse">
            <a:avLst/>
          </a:prstGeom>
          <a:solidFill>
            <a:srgbClr val="F0A50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5665411" y="510051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B8E8"/>
                </a:solidFill>
              </a:rPr>
              <a:t>Chartography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345453" y="3904092"/>
            <a:ext cx="106070" cy="106070"/>
          </a:xfrm>
          <a:prstGeom prst="ellipse">
            <a:avLst/>
          </a:prstGeom>
          <a:solidFill>
            <a:srgbClr val="3DAA6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851612" y="4042883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9088"/>
                </a:solidFill>
              </a:rPr>
              <a:t>MCP Atlas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5175013" y="3866942"/>
            <a:ext cx="201168" cy="201168"/>
          </a:xfrm>
          <a:prstGeom prst="ellipse">
            <a:avLst/>
          </a:prstGeom>
          <a:solidFill>
            <a:srgbClr val="00E5A0">
              <a:alpha val="45000"/>
            </a:srgbClr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222562" y="3914491"/>
            <a:ext cx="106070" cy="106070"/>
          </a:xfrm>
          <a:prstGeom prst="ellipse">
            <a:avLst/>
          </a:prstGeom>
          <a:solidFill>
            <a:srgbClr val="00E5A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4667276" y="4058481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E5A0"/>
                </a:solidFill>
              </a:rPr>
              <a:t>tau2-bench ✓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5102295" y="3887176"/>
            <a:ext cx="106070" cy="106070"/>
          </a:xfrm>
          <a:prstGeom prst="ellipse">
            <a:avLst/>
          </a:prstGeom>
          <a:solidFill>
            <a:srgbClr val="3DAA6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486875" y="401750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9088"/>
                </a:solidFill>
              </a:rPr>
              <a:t>Agents Last Exam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5590678" y="4556337"/>
            <a:ext cx="106070" cy="106070"/>
          </a:xfrm>
          <a:prstGeom prst="ellipse">
            <a:avLst/>
          </a:prstGeom>
          <a:solidFill>
            <a:srgbClr val="3DAA6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5103217" y="466482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D060"/>
                </a:solidFill>
              </a:rPr>
              <a:t>BrowseComp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5314936" y="4608510"/>
            <a:ext cx="106070" cy="106070"/>
          </a:xfrm>
          <a:prstGeom prst="ellipse">
            <a:avLst/>
          </a:prstGeom>
          <a:solidFill>
            <a:srgbClr val="3DAA6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4783816" y="472525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D060"/>
                </a:solidFill>
              </a:rPr>
              <a:t>OSWorld 2.0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5034979" y="4589034"/>
            <a:ext cx="106070" cy="106070"/>
          </a:xfrm>
          <a:prstGeom prst="ellipse">
            <a:avLst/>
          </a:prstGeom>
          <a:solidFill>
            <a:srgbClr val="3DAA6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459532" y="4702693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D060"/>
                </a:solidFill>
              </a:rPr>
              <a:t>BFCL v4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4769118" y="4499182"/>
            <a:ext cx="106070" cy="106070"/>
          </a:xfrm>
          <a:prstGeom prst="ellipse">
            <a:avLst/>
          </a:prstGeom>
          <a:solidFill>
            <a:srgbClr val="3DAA6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151576" y="4598615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D060"/>
                </a:solidFill>
              </a:rPr>
              <a:t>Toolathlon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5129275" y="5255418"/>
            <a:ext cx="106070" cy="106070"/>
          </a:xfrm>
          <a:prstGeom prst="ellipse">
            <a:avLst/>
          </a:prstGeom>
          <a:solidFill>
            <a:srgbClr val="3DAA6E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4577162" y="535379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B8E8"/>
                </a:solidFill>
              </a:rPr>
              <a:t>APEX-Agents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4947207" y="3776183"/>
            <a:ext cx="201168" cy="201168"/>
          </a:xfrm>
          <a:prstGeom prst="ellipse">
            <a:avLst/>
          </a:prstGeom>
          <a:solidFill>
            <a:srgbClr val="00E5A0">
              <a:alpha val="45000"/>
            </a:srgbClr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994756" y="3823732"/>
            <a:ext cx="106070" cy="106070"/>
          </a:xfrm>
          <a:prstGeom prst="ellipse">
            <a:avLst/>
          </a:prstGeom>
          <a:solidFill>
            <a:srgbClr val="00E5A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325566" y="3922343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E5A0"/>
                </a:solidFill>
              </a:rPr>
              <a:t>TMMLU+ ✓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4926766" y="3752040"/>
            <a:ext cx="106070" cy="106070"/>
          </a:xfrm>
          <a:prstGeom prst="ellipse">
            <a:avLst/>
          </a:prstGeom>
          <a:solidFill>
            <a:srgbClr val="9B59B6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4223582" y="3814805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9088"/>
                </a:solidFill>
              </a:rPr>
              <a:t>TW-LegalBench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4830751" y="3618391"/>
            <a:ext cx="201168" cy="201168"/>
          </a:xfrm>
          <a:prstGeom prst="ellipse">
            <a:avLst/>
          </a:prstGeom>
          <a:solidFill>
            <a:srgbClr val="00E5A0">
              <a:alpha val="45000"/>
            </a:srgbClr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4878299" y="3665940"/>
            <a:ext cx="106070" cy="106070"/>
          </a:xfrm>
          <a:prstGeom prst="ellipse">
            <a:avLst/>
          </a:prstGeom>
          <a:solidFill>
            <a:srgbClr val="00E5A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4150882" y="368565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E5A0"/>
                </a:solidFill>
              </a:rPr>
              <a:t>AIEC ✓</a:t>
            </a:r>
            <a:endParaRPr lang="en-US" sz="850" dirty="0"/>
          </a:p>
        </p:txBody>
      </p:sp>
      <p:sp>
        <p:nvSpPr>
          <p:cNvPr id="104" name="Shape 102"/>
          <p:cNvSpPr/>
          <p:nvPr/>
        </p:nvSpPr>
        <p:spPr>
          <a:xfrm>
            <a:off x="4606469" y="4401532"/>
            <a:ext cx="106070" cy="106070"/>
          </a:xfrm>
          <a:prstGeom prst="ellipse">
            <a:avLst/>
          </a:prstGeom>
          <a:solidFill>
            <a:srgbClr val="9B59B6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3963175" y="4485503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D060"/>
                </a:solidFill>
              </a:rPr>
              <a:t>MMMLU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4367616" y="4164712"/>
            <a:ext cx="106070" cy="106070"/>
          </a:xfrm>
          <a:prstGeom prst="ellipse">
            <a:avLst/>
          </a:prstGeom>
          <a:solidFill>
            <a:srgbClr val="9B59B6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3686503" y="4211187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D060"/>
                </a:solidFill>
              </a:rPr>
              <a:t>GDPval-AA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4211720" y="3866667"/>
            <a:ext cx="106070" cy="106070"/>
          </a:xfrm>
          <a:prstGeom prst="ellipse">
            <a:avLst/>
          </a:prstGeom>
          <a:solidFill>
            <a:srgbClr val="9B59B6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3505924" y="3865951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D060"/>
                </a:solidFill>
              </a:rPr>
              <a:t>IFEval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4225426" y="4927172"/>
            <a:ext cx="106070" cy="106070"/>
          </a:xfrm>
          <a:prstGeom prst="ellipse">
            <a:avLst/>
          </a:prstGeom>
          <a:solidFill>
            <a:srgbClr val="9B59B6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592866" y="4996337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B8E8"/>
                </a:solidFill>
              </a:rPr>
              <a:t>SimpleQA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3597118" y="4075845"/>
            <a:ext cx="106070" cy="106070"/>
          </a:xfrm>
          <a:prstGeom prst="ellipse">
            <a:avLst/>
          </a:prstGeom>
          <a:solidFill>
            <a:srgbClr val="9B59B6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2908635" y="406923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B8E8"/>
                </a:solidFill>
              </a:rPr>
              <a:t>DRCD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4175039" y="3730930"/>
            <a:ext cx="106070" cy="106070"/>
          </a:xfrm>
          <a:prstGeom prst="ellipse">
            <a:avLst/>
          </a:prstGeom>
          <a:solidFill>
            <a:srgbClr val="E8A02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3463435" y="3708723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D060"/>
                </a:solidFill>
              </a:rPr>
              <a:t>MLE-Bench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4177427" y="3283841"/>
            <a:ext cx="106070" cy="106070"/>
          </a:xfrm>
          <a:prstGeom prst="ellipse">
            <a:avLst/>
          </a:prstGeom>
          <a:solidFill>
            <a:srgbClr val="E8A02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3466202" y="3190845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D060"/>
                </a:solidFill>
              </a:rPr>
              <a:t>DSBench</a:t>
            </a:r>
            <a:endParaRPr lang="en-US" sz="850" dirty="0"/>
          </a:p>
        </p:txBody>
      </p:sp>
      <p:sp>
        <p:nvSpPr>
          <p:cNvPr id="118" name="Shape 116"/>
          <p:cNvSpPr/>
          <p:nvPr/>
        </p:nvSpPr>
        <p:spPr>
          <a:xfrm>
            <a:off x="3504006" y="3503794"/>
            <a:ext cx="106070" cy="106070"/>
          </a:xfrm>
          <a:prstGeom prst="ellipse">
            <a:avLst/>
          </a:prstGeom>
          <a:solidFill>
            <a:srgbClr val="E8A02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2807235" y="344627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B8E8"/>
                </a:solidFill>
              </a:rPr>
              <a:t>SpreadsheetBench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9189720" y="1143000"/>
            <a:ext cx="164592" cy="310896"/>
          </a:xfrm>
          <a:prstGeom prst="rect">
            <a:avLst/>
          </a:prstGeom>
          <a:solidFill>
            <a:srgbClr val="E85D4A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9427464" y="11338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5D4A"/>
                </a:solidFill>
              </a:rPr>
              <a:t>Reasoning &amp; Math</a:t>
            </a:r>
            <a:endParaRPr lang="en-US" sz="1000" dirty="0"/>
          </a:p>
        </p:txBody>
      </p:sp>
      <p:sp>
        <p:nvSpPr>
          <p:cNvPr id="122" name="Text 120"/>
          <p:cNvSpPr txBox="1"/>
          <p:nvPr/>
        </p:nvSpPr>
        <p:spPr>
          <a:xfrm>
            <a:off x="9427464" y="142646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A8CA8"/>
                </a:solidFill>
              </a:rPr>
              <a:t>HLE✓  ·  FrontierMath  ·  AIME 2025  ·  AIME 2026  ·  ARC-AGI-2  ·  MATH-500  ·  GPQA Diamond  ·  MMLU-Pro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9189720" y="1947672"/>
            <a:ext cx="164592" cy="31089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27464" y="1938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0D9"/>
                </a:solidFill>
              </a:rPr>
              <a:t>Coding &amp; SWE</a:t>
            </a:r>
            <a:endParaRPr lang="en-US" sz="1000" dirty="0"/>
          </a:p>
        </p:txBody>
      </p:sp>
      <p:sp>
        <p:nvSpPr>
          <p:cNvPr id="125" name="Text 123"/>
          <p:cNvSpPr txBox="1"/>
          <p:nvPr/>
        </p:nvSpPr>
        <p:spPr>
          <a:xfrm>
            <a:off x="9427464" y="223113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A8CA8"/>
                </a:solidFill>
              </a:rPr>
              <a:t>SWE-Bench Pro  ·  Terminal-Bench 4.0  ·  FrontierCode Diamond  ·  LiveCodeBench v6  ·  DeepSWE v1.1  ·  SWE-Bench Multilingual  ·  BigCodeBench  ·  SciCode</a:t>
            </a:r>
            <a:endParaRPr lang="en-US" sz="750" dirty="0"/>
          </a:p>
        </p:txBody>
      </p:sp>
      <p:sp>
        <p:nvSpPr>
          <p:cNvPr id="126" name="Shape 124"/>
          <p:cNvSpPr/>
          <p:nvPr/>
        </p:nvSpPr>
        <p:spPr>
          <a:xfrm>
            <a:off x="9189720" y="2752344"/>
            <a:ext cx="164592" cy="310896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427464" y="2743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68EE"/>
                </a:solidFill>
              </a:rPr>
              <a:t>Long Context</a:t>
            </a:r>
            <a:endParaRPr lang="en-US" sz="1000" dirty="0"/>
          </a:p>
        </p:txBody>
      </p:sp>
      <p:sp>
        <p:nvSpPr>
          <p:cNvPr id="128" name="Text 126"/>
          <p:cNvSpPr txBox="1"/>
          <p:nvPr/>
        </p:nvSpPr>
        <p:spPr>
          <a:xfrm>
            <a:off x="9427464" y="303580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A8CA8"/>
                </a:solidFill>
              </a:rPr>
              <a:t>MRCR v2✓  ·  GraphWalks BFS  ·  NoLiMa  ·  RULER  ·  LongBench v2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9189720" y="3557016"/>
            <a:ext cx="164592" cy="31089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427464" y="35478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A500"/>
                </a:solidFill>
              </a:rPr>
              <a:t>Multimodal</a:t>
            </a:r>
            <a:endParaRPr lang="en-US" sz="1000" dirty="0"/>
          </a:p>
        </p:txBody>
      </p:sp>
      <p:sp>
        <p:nvSpPr>
          <p:cNvPr id="131" name="Text 129"/>
          <p:cNvSpPr txBox="1"/>
          <p:nvPr/>
        </p:nvSpPr>
        <p:spPr>
          <a:xfrm>
            <a:off x="9427464" y="384048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A8CA8"/>
                </a:solidFill>
              </a:rPr>
              <a:t>MathVista✓  ·  MMMU-Pro  ·  CharXiv  ·  CharXiv-R  ·  DocVQA  ·  MathVision  ·  MMVU  ·  Chartography</a:t>
            </a:r>
            <a:endParaRPr lang="en-US" sz="750" dirty="0"/>
          </a:p>
        </p:txBody>
      </p:sp>
      <p:sp>
        <p:nvSpPr>
          <p:cNvPr id="132" name="Shape 130"/>
          <p:cNvSpPr/>
          <p:nvPr/>
        </p:nvSpPr>
        <p:spPr>
          <a:xfrm>
            <a:off x="9189720" y="4361688"/>
            <a:ext cx="164592" cy="310896"/>
          </a:xfrm>
          <a:prstGeom prst="rect">
            <a:avLst/>
          </a:prstGeom>
          <a:solidFill>
            <a:srgbClr val="3DAA6E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427464" y="43525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AA6E"/>
                </a:solidFill>
              </a:rPr>
              <a:t>Agents &amp; Tools</a:t>
            </a:r>
            <a:endParaRPr lang="en-US" sz="1000" dirty="0"/>
          </a:p>
        </p:txBody>
      </p:sp>
      <p:sp>
        <p:nvSpPr>
          <p:cNvPr id="134" name="Text 132"/>
          <p:cNvSpPr txBox="1"/>
          <p:nvPr/>
        </p:nvSpPr>
        <p:spPr>
          <a:xfrm>
            <a:off x="9427464" y="46451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A8CA8"/>
                </a:solidFill>
              </a:rPr>
              <a:t>MCP Atlas  ·  tau2-bench✓  ·  Agents Last Exam  ·  BrowseComp  ·  OSWorld 2.0  ·  BFCL v4  ·  Toolathlon  ·  APEX-Agents</a:t>
            </a:r>
            <a:endParaRPr lang="en-US" sz="750" dirty="0"/>
          </a:p>
        </p:txBody>
      </p:sp>
      <p:sp>
        <p:nvSpPr>
          <p:cNvPr id="135" name="Shape 133"/>
          <p:cNvSpPr/>
          <p:nvPr/>
        </p:nvSpPr>
        <p:spPr>
          <a:xfrm>
            <a:off x="9189720" y="5166360"/>
            <a:ext cx="164592" cy="310896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9427464" y="51572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59B6"/>
                </a:solidFill>
              </a:rPr>
              <a:t>Knowledge &amp; Language</a:t>
            </a:r>
            <a:endParaRPr lang="en-US" sz="1000" dirty="0"/>
          </a:p>
        </p:txBody>
      </p:sp>
      <p:sp>
        <p:nvSpPr>
          <p:cNvPr id="137" name="Text 135"/>
          <p:cNvSpPr txBox="1"/>
          <p:nvPr/>
        </p:nvSpPr>
        <p:spPr>
          <a:xfrm>
            <a:off x="9427464" y="544982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A8CA8"/>
                </a:solidFill>
              </a:rPr>
              <a:t>TMMLU+✓  ·  TW-LegalBench  ·  AIEC✓  ·  MMMLU  ·  GDPval-AA  ·  IFEval  ·  SimpleQA  ·  DRCD</a:t>
            </a:r>
            <a:endParaRPr lang="en-US" sz="750" dirty="0"/>
          </a:p>
        </p:txBody>
      </p:sp>
      <p:sp>
        <p:nvSpPr>
          <p:cNvPr id="138" name="Shape 136"/>
          <p:cNvSpPr/>
          <p:nvPr/>
        </p:nvSpPr>
        <p:spPr>
          <a:xfrm>
            <a:off x="9189720" y="5971032"/>
            <a:ext cx="164592" cy="310896"/>
          </a:xfrm>
          <a:prstGeom prst="rect">
            <a:avLst/>
          </a:prstGeom>
          <a:solidFill>
            <a:srgbClr val="E8A020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27464" y="5961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A020"/>
                </a:solidFill>
              </a:rPr>
              <a:t>Data &amp; ML</a:t>
            </a:r>
            <a:endParaRPr lang="en-US" sz="1000" dirty="0"/>
          </a:p>
        </p:txBody>
      </p:sp>
      <p:sp>
        <p:nvSpPr>
          <p:cNvPr id="140" name="Text 138"/>
          <p:cNvSpPr txBox="1"/>
          <p:nvPr/>
        </p:nvSpPr>
        <p:spPr>
          <a:xfrm>
            <a:off x="9427464" y="625449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A8CA8"/>
                </a:solidFill>
              </a:rPr>
              <a:t>MLE-Bench  ·  DSBench  ·  SpreadsheetBench</a:t>
            </a:r>
            <a:endParaRPr lang="en-US" sz="750" dirty="0"/>
          </a:p>
        </p:txBody>
      </p:sp>
      <p:sp>
        <p:nvSpPr>
          <p:cNvPr id="141" name="Shape 139"/>
          <p:cNvSpPr/>
          <p:nvPr/>
        </p:nvSpPr>
        <p:spPr>
          <a:xfrm>
            <a:off x="3283907" y="1325560"/>
            <a:ext cx="128016" cy="128016"/>
          </a:xfrm>
          <a:prstGeom prst="ellipse">
            <a:avLst/>
          </a:prstGeom>
          <a:solidFill>
            <a:srgbClr val="E85D4A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939739" y="12249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5D4A"/>
                </a:solidFill>
              </a:rPr>
              <a:t>Reasoning</a:t>
            </a:r>
            <a:endParaRPr lang="en-US" sz="900" dirty="0"/>
          </a:p>
          <a:p>
            <a:pPr algn="r" indent="0" marL="0">
              <a:buNone/>
            </a:pPr>
            <a:r>
              <a:rPr lang="en-US" sz="900" b="1" dirty="0">
                <a:solidFill>
                  <a:srgbClr val="E85D4A"/>
                </a:solidFill>
              </a:rPr>
              <a:t>&amp; Math</a:t>
            </a:r>
            <a:endParaRPr lang="en-US" sz="900" dirty="0"/>
          </a:p>
        </p:txBody>
      </p:sp>
      <p:sp>
        <p:nvSpPr>
          <p:cNvPr id="143" name="Shape 141"/>
          <p:cNvSpPr/>
          <p:nvPr/>
        </p:nvSpPr>
        <p:spPr>
          <a:xfrm>
            <a:off x="6438219" y="832874"/>
            <a:ext cx="128016" cy="128016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6611955" y="73229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A90D9"/>
                </a:solidFill>
              </a:rPr>
              <a:t>Coding</a:t>
            </a:r>
            <a:endParaRPr lang="en-US" sz="9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4A90D9"/>
                </a:solidFill>
              </a:rPr>
              <a:t>&amp; SWE</a:t>
            </a:r>
            <a:endParaRPr lang="en-US" sz="900" dirty="0"/>
          </a:p>
        </p:txBody>
      </p:sp>
      <p:sp>
        <p:nvSpPr>
          <p:cNvPr id="145" name="Shape 143"/>
          <p:cNvSpPr/>
          <p:nvPr/>
        </p:nvSpPr>
        <p:spPr>
          <a:xfrm>
            <a:off x="8049059" y="2684601"/>
            <a:ext cx="128016" cy="128016"/>
          </a:xfrm>
          <a:prstGeom prst="ellipse">
            <a:avLst/>
          </a:prstGeom>
          <a:solidFill>
            <a:srgbClr val="7B68EE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8222795" y="2584017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7B68EE"/>
                </a:solidFill>
              </a:rPr>
              <a:t>Long</a:t>
            </a:r>
            <a:endParaRPr lang="en-US" sz="9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7B68EE"/>
                </a:solidFill>
              </a:rPr>
              <a:t>Context</a:t>
            </a:r>
            <a:endParaRPr lang="en-US" sz="900" dirty="0"/>
          </a:p>
        </p:txBody>
      </p:sp>
      <p:sp>
        <p:nvSpPr>
          <p:cNvPr id="147" name="Shape 145"/>
          <p:cNvSpPr/>
          <p:nvPr/>
        </p:nvSpPr>
        <p:spPr>
          <a:xfrm>
            <a:off x="7683261" y="5111510"/>
            <a:ext cx="128016" cy="128016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7856997" y="501092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0A500"/>
                </a:solidFill>
              </a:rPr>
              <a:t>Multimodal</a:t>
            </a:r>
            <a:endParaRPr lang="en-US" sz="900" dirty="0"/>
          </a:p>
        </p:txBody>
      </p:sp>
      <p:sp>
        <p:nvSpPr>
          <p:cNvPr id="149" name="Shape 147"/>
          <p:cNvSpPr/>
          <p:nvPr/>
        </p:nvSpPr>
        <p:spPr>
          <a:xfrm>
            <a:off x="5036439" y="6421177"/>
            <a:ext cx="128016" cy="128016"/>
          </a:xfrm>
          <a:prstGeom prst="ellipse">
            <a:avLst/>
          </a:prstGeom>
          <a:solidFill>
            <a:srgbClr val="3DAA6E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3692271" y="6320593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AA6E"/>
                </a:solidFill>
              </a:rPr>
              <a:t>Agents</a:t>
            </a:r>
            <a:endParaRPr lang="en-US" sz="900" dirty="0"/>
          </a:p>
          <a:p>
            <a:pPr algn="r" indent="0" marL="0">
              <a:buNone/>
            </a:pPr>
            <a:r>
              <a:rPr lang="en-US" sz="900" b="1" dirty="0">
                <a:solidFill>
                  <a:srgbClr val="3DAA6E"/>
                </a:solidFill>
              </a:rPr>
              <a:t>&amp; Tools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2885195" y="5239717"/>
            <a:ext cx="128016" cy="128016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152" name="Text 150"/>
          <p:cNvSpPr txBox="1"/>
          <p:nvPr/>
        </p:nvSpPr>
        <p:spPr>
          <a:xfrm>
            <a:off x="1541027" y="5139133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B59B6"/>
                </a:solidFill>
              </a:rPr>
              <a:t>Knowledge</a:t>
            </a:r>
            <a:endParaRPr lang="en-US" sz="900" dirty="0"/>
          </a:p>
          <a:p>
            <a:pPr algn="r" indent="0" marL="0">
              <a:buNone/>
            </a:pPr>
            <a:r>
              <a:rPr lang="en-US" sz="900" b="1" dirty="0">
                <a:solidFill>
                  <a:srgbClr val="9B59B6"/>
                </a:solidFill>
              </a:rPr>
              <a:t>&amp; Language</a:t>
            </a:r>
            <a:endParaRPr lang="en-US" sz="900" dirty="0"/>
          </a:p>
        </p:txBody>
      </p:sp>
      <p:sp>
        <p:nvSpPr>
          <p:cNvPr id="153" name="Shape 151"/>
          <p:cNvSpPr/>
          <p:nvPr/>
        </p:nvSpPr>
        <p:spPr>
          <a:xfrm>
            <a:off x="2313474" y="3486518"/>
            <a:ext cx="128016" cy="128016"/>
          </a:xfrm>
          <a:prstGeom prst="ellipse">
            <a:avLst/>
          </a:prstGeom>
          <a:solidFill>
            <a:srgbClr val="E8A020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69306" y="338593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A020"/>
                </a:solidFill>
              </a:rPr>
              <a:t>Data</a:t>
            </a:r>
            <a:endParaRPr lang="en-US" sz="900" dirty="0"/>
          </a:p>
          <a:p>
            <a:pPr algn="r" indent="0" marL="0">
              <a:buNone/>
            </a:pPr>
            <a:r>
              <a:rPr lang="en-US" sz="900" b="1" dirty="0">
                <a:solidFill>
                  <a:srgbClr val="E8A020"/>
                </a:solidFill>
              </a:rPr>
              <a:t>&amp; ML</a:t>
            </a:r>
            <a:endParaRPr lang="en-US" sz="900" dirty="0"/>
          </a:p>
        </p:txBody>
      </p:sp>
      <p:sp>
        <p:nvSpPr>
          <p:cNvPr id="155" name="Text 153"/>
          <p:cNvSpPr txBox="1"/>
          <p:nvPr/>
        </p:nvSpPr>
        <p:spPr>
          <a:xfrm>
            <a:off x="320040" y="164592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FoxBrain Benchmark Priority Radar</a:t>
            </a:r>
            <a:endParaRPr lang="en-US" sz="2000" dirty="0"/>
          </a:p>
        </p:txBody>
      </p:sp>
      <p:sp>
        <p:nvSpPr>
          <p:cNvPr id="156" name="Text 154"/>
          <p:cNvSpPr txBox="1"/>
          <p:nvPr/>
        </p:nvSpPr>
        <p:spPr>
          <a:xfrm>
            <a:off x="320040" y="6217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8AAF"/>
                </a:solidFill>
              </a:rPr>
              <a:t>Closer to center = higher strategic priority for FoxBrain evaluation</a:t>
            </a:r>
            <a:endParaRPr lang="en-US" sz="950" dirty="0"/>
          </a:p>
        </p:txBody>
      </p:sp>
      <p:sp>
        <p:nvSpPr>
          <p:cNvPr id="157" name="Shape 155"/>
          <p:cNvSpPr/>
          <p:nvPr/>
        </p:nvSpPr>
        <p:spPr>
          <a:xfrm>
            <a:off x="10607040" y="164592"/>
            <a:ext cx="1371600" cy="658368"/>
          </a:xfrm>
          <a:prstGeom prst="roundRect">
            <a:avLst>
              <a:gd name="adj" fmla="val 13889"/>
            </a:avLst>
          </a:prstGeom>
          <a:solidFill>
            <a:srgbClr val="7C3AED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1060704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FOX</a:t>
            </a:r>
            <a:endParaRPr lang="en-US" sz="1400" dirty="0"/>
          </a:p>
        </p:txBody>
      </p:sp>
      <p:sp>
        <p:nvSpPr>
          <p:cNvPr id="159" name="Text 157"/>
          <p:cNvSpPr txBox="1"/>
          <p:nvPr/>
        </p:nvSpPr>
        <p:spPr>
          <a:xfrm>
            <a:off x="10607040" y="457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B5FD"/>
                </a:solidFill>
              </a:rPr>
              <a:t>BRAIN</a:t>
            </a:r>
            <a:endParaRPr lang="en-US" sz="1000" dirty="0"/>
          </a:p>
        </p:txBody>
      </p:sp>
      <p:sp>
        <p:nvSpPr>
          <p:cNvPr id="160" name="Text 158"/>
          <p:cNvSpPr txBox="1"/>
          <p:nvPr/>
        </p:nvSpPr>
        <p:spPr>
          <a:xfrm>
            <a:off x="9189720" y="7498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A4A64"/>
                </a:solidFill>
              </a:rPr>
              <a:t>DOMAINS</a:t>
            </a:r>
            <a:endParaRPr lang="en-US" sz="800" dirty="0"/>
          </a:p>
        </p:txBody>
      </p:sp>
      <p:sp>
        <p:nvSpPr>
          <p:cNvPr id="161" name="Shape 159"/>
          <p:cNvSpPr/>
          <p:nvPr/>
        </p:nvSpPr>
        <p:spPr>
          <a:xfrm>
            <a:off x="9189720" y="1024128"/>
            <a:ext cx="2743200" cy="0"/>
          </a:xfrm>
          <a:prstGeom prst="line">
            <a:avLst/>
          </a:prstGeom>
          <a:noFill/>
          <a:ln w="9525">
            <a:solidFill>
              <a:srgbClr val="1E3A52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320040" y="6455664"/>
            <a:ext cx="118872" cy="118872"/>
          </a:xfrm>
          <a:prstGeom prst="ellipse">
            <a:avLst/>
          </a:prstGeom>
          <a:solidFill>
            <a:srgbClr val="FF9088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493776" y="6437376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AB5"/>
                </a:solidFill>
              </a:rPr>
              <a:t>CRITICAL  Evaluate now</a:t>
            </a:r>
            <a:endParaRPr lang="en-US" sz="800" dirty="0"/>
          </a:p>
        </p:txBody>
      </p:sp>
      <p:sp>
        <p:nvSpPr>
          <p:cNvPr id="164" name="Shape 162"/>
          <p:cNvSpPr/>
          <p:nvPr/>
        </p:nvSpPr>
        <p:spPr>
          <a:xfrm>
            <a:off x="2651760" y="6455664"/>
            <a:ext cx="118872" cy="118872"/>
          </a:xfrm>
          <a:prstGeom prst="ellipse">
            <a:avLst/>
          </a:prstGeom>
          <a:solidFill>
            <a:srgbClr val="FFD060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2825496" y="6437376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AB5"/>
                </a:solidFill>
              </a:rPr>
              <a:t>HIGH  Near-term priority</a:t>
            </a:r>
            <a:endParaRPr lang="en-US" sz="800" dirty="0"/>
          </a:p>
        </p:txBody>
      </p:sp>
      <p:sp>
        <p:nvSpPr>
          <p:cNvPr id="166" name="Shape 164"/>
          <p:cNvSpPr/>
          <p:nvPr/>
        </p:nvSpPr>
        <p:spPr>
          <a:xfrm>
            <a:off x="4983480" y="6455664"/>
            <a:ext cx="118872" cy="118872"/>
          </a:xfrm>
          <a:prstGeom prst="ellipse">
            <a:avLst/>
          </a:prstGeom>
          <a:solidFill>
            <a:srgbClr val="70B8E8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5157216" y="6437376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AB5"/>
                </a:solidFill>
              </a:rPr>
              <a:t>MEDIUM  On roadmap</a:t>
            </a:r>
            <a:endParaRPr lang="en-US" sz="800" dirty="0"/>
          </a:p>
        </p:txBody>
      </p:sp>
      <p:sp>
        <p:nvSpPr>
          <p:cNvPr id="168" name="Shape 166"/>
          <p:cNvSpPr/>
          <p:nvPr/>
        </p:nvSpPr>
        <p:spPr>
          <a:xfrm>
            <a:off x="7315200" y="6455664"/>
            <a:ext cx="118872" cy="118872"/>
          </a:xfrm>
          <a:prstGeom prst="ellipse">
            <a:avLst/>
          </a:prstGeom>
          <a:solidFill>
            <a:srgbClr val="8888CC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7488936" y="6437376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AB5"/>
                </a:solidFill>
              </a:rPr>
              <a:t>MONITOR  Emerging / watch</a:t>
            </a:r>
            <a:endParaRPr lang="en-US" sz="800" dirty="0"/>
          </a:p>
        </p:txBody>
      </p:sp>
      <p:sp>
        <p:nvSpPr>
          <p:cNvPr id="170" name="Shape 168"/>
          <p:cNvSpPr/>
          <p:nvPr/>
        </p:nvSpPr>
        <p:spPr>
          <a:xfrm>
            <a:off x="9646920" y="6455664"/>
            <a:ext cx="118872" cy="118872"/>
          </a:xfrm>
          <a:prstGeom prst="ellipse">
            <a:avLst/>
          </a:prstGeom>
          <a:solidFill>
            <a:srgbClr val="00E5A0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820656" y="6437376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AB5"/>
                </a:solidFill>
              </a:rPr>
              <a:t>✓ Done  Already evaluated</a:t>
            </a:r>
            <a:endParaRPr lang="en-US" sz="800" dirty="0"/>
          </a:p>
        </p:txBody>
      </p:sp>
      <p:sp>
        <p:nvSpPr>
          <p:cNvPr id="172" name="Text 170"/>
          <p:cNvSpPr txBox="1"/>
          <p:nvPr/>
        </p:nvSpPr>
        <p:spPr>
          <a:xfrm>
            <a:off x="320040" y="6656832"/>
            <a:ext cx="1152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3A52"/>
                </a:solidFill>
              </a:rPr>
              <a:t>EXECUTIVE VIEW  ·  Full scores &amp; headroom at FoxBrain EvalHub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8288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FoxBrain Benchmark Roadmap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A8F"/>
                </a:solidFill>
              </a:rPr>
              <a:t>Priority reflects FoxBrain relevance — not benchmark popularity.  ✓ = already evaluated at HHRI-AI.  Full SOTA scores → FoxBrain EvalHub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607040" y="164592"/>
            <a:ext cx="1371600" cy="658368"/>
          </a:xfrm>
          <a:prstGeom prst="roundRect">
            <a:avLst>
              <a:gd name="adj" fmla="val 13889"/>
            </a:avLst>
          </a:prstGeom>
          <a:solidFill>
            <a:srgbClr val="7C3AE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60704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FOX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607040" y="457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B5FD"/>
                </a:solidFill>
              </a:rPr>
              <a:t>BRAIN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1901952" cy="27432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051560"/>
            <a:ext cx="1764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0C8E8"/>
                </a:solidFill>
              </a:rPr>
              <a:t>CAPABILITY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304288" y="1005840"/>
            <a:ext cx="2103120" cy="274320"/>
          </a:xfrm>
          <a:prstGeom prst="rect">
            <a:avLst/>
          </a:prstGeom>
          <a:solidFill>
            <a:srgbClr val="3D0D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395728" y="105156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9088"/>
                </a:solidFill>
              </a:rPr>
              <a:t>CRITICAL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462272" y="1005840"/>
            <a:ext cx="2432304" cy="274320"/>
          </a:xfrm>
          <a:prstGeom prst="rect">
            <a:avLst/>
          </a:prstGeom>
          <a:solidFill>
            <a:srgbClr val="2A1E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53712" y="1051560"/>
            <a:ext cx="2295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D060"/>
                </a:solidFill>
              </a:rPr>
              <a:t>HIGH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949440" y="1005840"/>
            <a:ext cx="2322576" cy="274320"/>
          </a:xfrm>
          <a:prstGeom prst="rect">
            <a:avLst/>
          </a:prstGeom>
          <a:solidFill>
            <a:srgbClr val="0A1E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040880" y="1051560"/>
            <a:ext cx="2185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0B8E8"/>
                </a:solidFill>
              </a:rPr>
              <a:t>MEDIUM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9326880" y="1005840"/>
            <a:ext cx="2560320" cy="274320"/>
          </a:xfrm>
          <a:prstGeom prst="rect">
            <a:avLst/>
          </a:prstGeom>
          <a:solidFill>
            <a:srgbClr val="10122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418320" y="105156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888CC"/>
                </a:solidFill>
              </a:rPr>
              <a:t>MONITOR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65760" y="1316736"/>
            <a:ext cx="11521440" cy="658368"/>
          </a:xfrm>
          <a:prstGeom prst="rect">
            <a:avLst/>
          </a:prstGeom>
          <a:solidFill>
            <a:srgbClr val="112030"/>
          </a:solidFill>
          <a:ln/>
        </p:spPr>
      </p:sp>
      <p:sp>
        <p:nvSpPr>
          <p:cNvPr id="19" name="Shape 17"/>
          <p:cNvSpPr/>
          <p:nvPr/>
        </p:nvSpPr>
        <p:spPr>
          <a:xfrm>
            <a:off x="438912" y="1591056"/>
            <a:ext cx="109728" cy="109728"/>
          </a:xfrm>
          <a:prstGeom prst="ellipse">
            <a:avLst/>
          </a:prstGeom>
          <a:solidFill>
            <a:srgbClr val="E85D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3504" y="1499616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5D4A"/>
                </a:solidFill>
              </a:rPr>
              <a:t>Reasoning &amp; Math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395728" y="1408176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E5A0"/>
                </a:solidFill>
              </a:rPr>
              <a:t>HLE ✓ · FrontierMath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53712" y="1408176"/>
            <a:ext cx="2295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060"/>
                </a:solidFill>
              </a:rPr>
              <a:t>AIME 2025 · AIME 2026 · ARC-AGI-2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1389888"/>
            <a:ext cx="2185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0B8E8"/>
                </a:solidFill>
              </a:rPr>
              <a:t>MATH-500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9418320" y="1389888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CC"/>
                </a:solidFill>
              </a:rPr>
              <a:t>GPQA Diamond · MMLU-Pro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1975104"/>
            <a:ext cx="11521440" cy="658368"/>
          </a:xfrm>
          <a:prstGeom prst="rect">
            <a:avLst/>
          </a:prstGeom>
          <a:solidFill>
            <a:srgbClr val="0D1B28"/>
          </a:solidFill>
          <a:ln/>
        </p:spPr>
      </p:sp>
      <p:sp>
        <p:nvSpPr>
          <p:cNvPr id="26" name="Shape 24"/>
          <p:cNvSpPr/>
          <p:nvPr/>
        </p:nvSpPr>
        <p:spPr>
          <a:xfrm>
            <a:off x="438912" y="2249424"/>
            <a:ext cx="109728" cy="10972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03504" y="2157984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0D9"/>
                </a:solidFill>
              </a:rPr>
              <a:t>Coding &amp; SWE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395728" y="2066544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088"/>
                </a:solidFill>
              </a:rPr>
              <a:t>SWE-Bench Pro · Terminal-Bench 4.0 · FrontierCode Diamond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553712" y="2066544"/>
            <a:ext cx="2295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060"/>
                </a:solidFill>
              </a:rPr>
              <a:t>LiveCodeBench v6 · DeepSWE v1.1 · SWE-Bench Multilingual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040880" y="2048256"/>
            <a:ext cx="2185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0B8E8"/>
                </a:solidFill>
              </a:rPr>
              <a:t>BigCodeBench · SciCode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9418320" y="2048256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52"/>
                </a:solidFill>
              </a:rPr>
              <a:t>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5760" y="2633472"/>
            <a:ext cx="11521440" cy="658368"/>
          </a:xfrm>
          <a:prstGeom prst="rect">
            <a:avLst/>
          </a:prstGeom>
          <a:solidFill>
            <a:srgbClr val="112030"/>
          </a:solidFill>
          <a:ln/>
        </p:spPr>
      </p:sp>
      <p:sp>
        <p:nvSpPr>
          <p:cNvPr id="33" name="Shape 31"/>
          <p:cNvSpPr/>
          <p:nvPr/>
        </p:nvSpPr>
        <p:spPr>
          <a:xfrm>
            <a:off x="438912" y="2907792"/>
            <a:ext cx="109728" cy="109728"/>
          </a:xfrm>
          <a:prstGeom prst="ellipse">
            <a:avLst/>
          </a:prstGeom>
          <a:solidFill>
            <a:srgbClr val="7B68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03504" y="2816352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68EE"/>
                </a:solidFill>
              </a:rPr>
              <a:t>Long Context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2395728" y="272491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E5A0"/>
                </a:solidFill>
              </a:rPr>
              <a:t>MRCR v2 ✓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553712" y="2724912"/>
            <a:ext cx="2295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060"/>
                </a:solidFill>
              </a:rPr>
              <a:t>GraphWalks BFS · NoLiMa · RULER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7040880" y="2706624"/>
            <a:ext cx="2185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0B8E8"/>
                </a:solidFill>
              </a:rPr>
              <a:t>LongBench v2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9418320" y="2706624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52"/>
                </a:solidFill>
              </a:rPr>
              <a:t>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5760" y="3291840"/>
            <a:ext cx="11521440" cy="658368"/>
          </a:xfrm>
          <a:prstGeom prst="rect">
            <a:avLst/>
          </a:prstGeom>
          <a:solidFill>
            <a:srgbClr val="0D1B28"/>
          </a:solidFill>
          <a:ln/>
        </p:spPr>
      </p:sp>
      <p:sp>
        <p:nvSpPr>
          <p:cNvPr id="40" name="Shape 38"/>
          <p:cNvSpPr/>
          <p:nvPr/>
        </p:nvSpPr>
        <p:spPr>
          <a:xfrm>
            <a:off x="438912" y="3566160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03504" y="3474720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A500"/>
                </a:solidFill>
              </a:rPr>
              <a:t>Multimodal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2395728" y="3383280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088"/>
                </a:solidFill>
              </a:rPr>
              <a:t>—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553712" y="3383280"/>
            <a:ext cx="2295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060"/>
                </a:solidFill>
              </a:rPr>
              <a:t>MathVista ✓ · MMMU-Pro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7040880" y="3364992"/>
            <a:ext cx="2185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0B8E8"/>
                </a:solidFill>
              </a:rPr>
              <a:t>CharXiv · CharXiv-R · DocVQA · MathVision · MMVU · Chartography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9418320" y="3364992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52"/>
                </a:solidFill>
              </a:rPr>
              <a:t>—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5760" y="3950208"/>
            <a:ext cx="11521440" cy="658368"/>
          </a:xfrm>
          <a:prstGeom prst="rect">
            <a:avLst/>
          </a:prstGeom>
          <a:solidFill>
            <a:srgbClr val="112030"/>
          </a:solidFill>
          <a:ln/>
        </p:spPr>
      </p:sp>
      <p:sp>
        <p:nvSpPr>
          <p:cNvPr id="47" name="Shape 45"/>
          <p:cNvSpPr/>
          <p:nvPr/>
        </p:nvSpPr>
        <p:spPr>
          <a:xfrm>
            <a:off x="438912" y="4224528"/>
            <a:ext cx="109728" cy="109728"/>
          </a:xfrm>
          <a:prstGeom prst="ellipse">
            <a:avLst/>
          </a:prstGeom>
          <a:solidFill>
            <a:srgbClr val="3DAA6E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03504" y="4133088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AA6E"/>
                </a:solidFill>
              </a:rPr>
              <a:t>Agents &amp; Tools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2395728" y="4041648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E5A0"/>
                </a:solidFill>
              </a:rPr>
              <a:t>MCP Atlas · tau2-bench ✓ · Agents Last Exam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4553712" y="4041648"/>
            <a:ext cx="2295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060"/>
                </a:solidFill>
              </a:rPr>
              <a:t>BrowseComp · OSWorld 2.0 · BFCL v4 · Toolathlon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7040880" y="4023360"/>
            <a:ext cx="2185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0B8E8"/>
                </a:solidFill>
              </a:rPr>
              <a:t>APEX-Agents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9418320" y="4023360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52"/>
                </a:solidFill>
              </a:rPr>
              <a:t>—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65760" y="4608576"/>
            <a:ext cx="11521440" cy="658368"/>
          </a:xfrm>
          <a:prstGeom prst="rect">
            <a:avLst/>
          </a:prstGeom>
          <a:solidFill>
            <a:srgbClr val="0D1B28"/>
          </a:solidFill>
          <a:ln/>
        </p:spPr>
      </p:sp>
      <p:sp>
        <p:nvSpPr>
          <p:cNvPr id="54" name="Shape 52"/>
          <p:cNvSpPr/>
          <p:nvPr/>
        </p:nvSpPr>
        <p:spPr>
          <a:xfrm>
            <a:off x="438912" y="4882896"/>
            <a:ext cx="109728" cy="109728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03504" y="4791456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59B6"/>
                </a:solidFill>
              </a:rPr>
              <a:t>Knowledge &amp; Lang.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2395728" y="4700016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E5A0"/>
                </a:solidFill>
              </a:rPr>
              <a:t>TMMLU+ ✓ · TW-LegalBench · AIEC ✓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4553712" y="4700016"/>
            <a:ext cx="2295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060"/>
                </a:solidFill>
              </a:rPr>
              <a:t>MMMLU · GDPval-AA · IFEval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7040880" y="4681728"/>
            <a:ext cx="2185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0B8E8"/>
                </a:solidFill>
              </a:rPr>
              <a:t>SimpleQA · DRCD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9418320" y="4681728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52"/>
                </a:solidFill>
              </a:rPr>
              <a:t>—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65760" y="5266944"/>
            <a:ext cx="11521440" cy="658368"/>
          </a:xfrm>
          <a:prstGeom prst="rect">
            <a:avLst/>
          </a:prstGeom>
          <a:solidFill>
            <a:srgbClr val="112030"/>
          </a:solidFill>
          <a:ln/>
        </p:spPr>
      </p:sp>
      <p:sp>
        <p:nvSpPr>
          <p:cNvPr id="61" name="Shape 59"/>
          <p:cNvSpPr/>
          <p:nvPr/>
        </p:nvSpPr>
        <p:spPr>
          <a:xfrm>
            <a:off x="438912" y="5541264"/>
            <a:ext cx="109728" cy="109728"/>
          </a:xfrm>
          <a:prstGeom prst="ellipse">
            <a:avLst/>
          </a:prstGeom>
          <a:solidFill>
            <a:srgbClr val="E8A020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03504" y="5449824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A020"/>
                </a:solidFill>
              </a:rPr>
              <a:t>Data &amp; ML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2395728" y="5358384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088"/>
                </a:solidFill>
              </a:rPr>
              <a:t>—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4553712" y="5358384"/>
            <a:ext cx="2295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060"/>
                </a:solidFill>
              </a:rPr>
              <a:t>MLE-Bench · DSBench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040880" y="5340096"/>
            <a:ext cx="2185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0B8E8"/>
                </a:solidFill>
              </a:rPr>
              <a:t>SpreadsheetBench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9418320" y="5340096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A52"/>
                </a:solidFill>
              </a:rPr>
              <a:t>—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2295144" y="1005840"/>
            <a:ext cx="0" cy="4919472"/>
          </a:xfrm>
          <a:prstGeom prst="line">
            <a:avLst/>
          </a:prstGeom>
          <a:noFill/>
          <a:ln w="9525">
            <a:solidFill>
              <a:srgbClr val="1A305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53128" y="1005840"/>
            <a:ext cx="0" cy="4919472"/>
          </a:xfrm>
          <a:prstGeom prst="line">
            <a:avLst/>
          </a:prstGeom>
          <a:noFill/>
          <a:ln w="9525">
            <a:solidFill>
              <a:srgbClr val="1A305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940296" y="1005840"/>
            <a:ext cx="0" cy="4919472"/>
          </a:xfrm>
          <a:prstGeom prst="line">
            <a:avLst/>
          </a:prstGeom>
          <a:noFill/>
          <a:ln w="9525">
            <a:solidFill>
              <a:srgbClr val="1A305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317736" y="1005840"/>
            <a:ext cx="0" cy="4919472"/>
          </a:xfrm>
          <a:prstGeom prst="line">
            <a:avLst/>
          </a:prstGeom>
          <a:noFill/>
          <a:ln w="9525">
            <a:solidFill>
              <a:srgbClr val="1A305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57200" y="6071616"/>
            <a:ext cx="109728" cy="109728"/>
          </a:xfrm>
          <a:prstGeom prst="ellipse">
            <a:avLst/>
          </a:prstGeom>
          <a:solidFill>
            <a:srgbClr val="FF9088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21792" y="6053328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8AAF"/>
                </a:solidFill>
              </a:rPr>
              <a:t>CRITICAL — evaluate now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2788920" y="6071616"/>
            <a:ext cx="109728" cy="109728"/>
          </a:xfrm>
          <a:prstGeom prst="ellipse">
            <a:avLst/>
          </a:prstGeom>
          <a:solidFill>
            <a:srgbClr val="FFD06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2953512" y="6053328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8AAF"/>
                </a:solidFill>
              </a:rPr>
              <a:t>HIGH — near-term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5120640" y="6071616"/>
            <a:ext cx="109728" cy="109728"/>
          </a:xfrm>
          <a:prstGeom prst="ellipse">
            <a:avLst/>
          </a:prstGeom>
          <a:solidFill>
            <a:srgbClr val="70B8E8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285232" y="6053328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8AAF"/>
                </a:solidFill>
              </a:rPr>
              <a:t>MEDIUM — on roadmap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7452360" y="6071616"/>
            <a:ext cx="109728" cy="109728"/>
          </a:xfrm>
          <a:prstGeom prst="ellipse">
            <a:avLst/>
          </a:prstGeom>
          <a:solidFill>
            <a:srgbClr val="8888CC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7616952" y="6053328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8AAF"/>
                </a:solidFill>
              </a:rPr>
              <a:t>MONITOR — emerging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784080" y="6071616"/>
            <a:ext cx="109728" cy="109728"/>
          </a:xfrm>
          <a:prstGeom prst="ellipse">
            <a:avLst/>
          </a:prstGeom>
          <a:solidFill>
            <a:srgbClr val="00E5A0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948672" y="6053328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8AAF"/>
                </a:solidFill>
              </a:rPr>
              <a:t>✓ Already evaluated</a:t>
            </a:r>
            <a:endParaRPr lang="en-US" sz="800" dirty="0"/>
          </a:p>
        </p:txBody>
      </p:sp>
      <p:sp>
        <p:nvSpPr>
          <p:cNvPr id="81" name="Text 79"/>
          <p:cNvSpPr txBox="1"/>
          <p:nvPr/>
        </p:nvSpPr>
        <p:spPr>
          <a:xfrm>
            <a:off x="365760" y="6656832"/>
            <a:ext cx="1152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3A52"/>
                </a:solidFill>
              </a:rPr>
              <a:t>Recommended: use Slide 1 for strategic discussion · Slide 2 for benchmark-level detail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2026-09-30T03:09:16Z</dcterms:created>
  <dcterms:modified xsi:type="dcterms:W3CDTF">2026-09-30T03:09:16Z</dcterms:modified>
</cp:coreProperties>
</file>