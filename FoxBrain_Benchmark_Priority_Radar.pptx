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3566160"/>
            <a:ext cx="-2702722" cy="-724192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5303520" y="3566160"/>
            <a:ext cx="-431806" cy="-2764544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303520" y="3566160"/>
            <a:ext cx="2353146" cy="-1513891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303520" y="3566160"/>
            <a:ext cx="2798024" cy="14950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303520" y="3566160"/>
            <a:ext cx="1118923" cy="2564600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303520" y="3566160"/>
            <a:ext cx="-1463259" cy="2384960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03520" y="3566160"/>
            <a:ext cx="-2710306" cy="695271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70048" y="932688"/>
            <a:ext cx="5266944" cy="5266944"/>
          </a:xfrm>
          <a:prstGeom prst="ellipse">
            <a:avLst/>
          </a:prstGeom>
          <a:solidFill>
            <a:srgbClr val="111A28">
              <a:alpha val="35000"/>
            </a:srgbClr>
          </a:solidFill>
          <a:ln w="19050">
            <a:solidFill>
              <a:srgbClr val="111A2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536192"/>
            <a:ext cx="4059936" cy="4059936"/>
          </a:xfrm>
          <a:prstGeom prst="ellipse">
            <a:avLst/>
          </a:prstGeom>
          <a:solidFill>
            <a:srgbClr val="1A3E5A">
              <a:alpha val="22000"/>
            </a:srgbClr>
          </a:solidFill>
          <a:ln w="19050">
            <a:solidFill>
              <a:srgbClr val="1A3E5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13632" y="2176272"/>
            <a:ext cx="2779776" cy="2779776"/>
          </a:xfrm>
          <a:prstGeom prst="ellipse">
            <a:avLst/>
          </a:prstGeom>
          <a:solidFill>
            <a:srgbClr val="B8860B">
              <a:alpha val="22000"/>
            </a:srgbClr>
          </a:solidFill>
          <a:ln w="1905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834640"/>
            <a:ext cx="1463040" cy="1463040"/>
          </a:xfrm>
          <a:prstGeom prst="ellipse">
            <a:avLst/>
          </a:prstGeom>
          <a:solidFill>
            <a:srgbClr val="CC3322">
              <a:alpha val="12000"/>
            </a:srgbClr>
          </a:solidFill>
          <a:ln w="19050">
            <a:solidFill>
              <a:srgbClr val="CC3322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1188" y="416913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9088"/>
                </a:solidFill>
              </a:rPr>
              <a:t>CRITICAL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109427" y="476582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060"/>
                </a:solidFill>
              </a:rPr>
              <a:t>HIGH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379936" y="5345931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0B8E8"/>
                </a:solidFill>
              </a:rPr>
              <a:t>MEDIUM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34988" y="58928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8A8E8"/>
                </a:solidFill>
              </a:rPr>
              <a:t>MONITOR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11473" y="3273921"/>
            <a:ext cx="237744" cy="237744"/>
          </a:xfrm>
          <a:prstGeom prst="ellipse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508" y="3326956"/>
            <a:ext cx="131674" cy="131674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87081" y="324356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</a:rPr>
              <a:t>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119735" y="3125417"/>
            <a:ext cx="102413" cy="102413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07877" y="295533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5D4A"/>
                </a:solidFill>
              </a:rPr>
              <a:t>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248888" y="3048788"/>
            <a:ext cx="102413" cy="102413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56830" y="295076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5D4A"/>
                </a:solidFill>
              </a:rPr>
              <a:t>3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12850" y="2691930"/>
            <a:ext cx="102413" cy="102413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53516" y="254966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5D4A"/>
                </a:solidFill>
              </a:rPr>
              <a:t>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95826" y="2467533"/>
            <a:ext cx="102413" cy="102413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83967" y="229745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5D4A"/>
                </a:solidFill>
              </a:rPr>
              <a:t>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078951" y="2208998"/>
            <a:ext cx="102413" cy="102413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19616" y="2066737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5D4A"/>
                </a:solidFill>
              </a:rPr>
              <a:t>6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096192" y="2513275"/>
            <a:ext cx="102413" cy="102413"/>
          </a:xfrm>
          <a:prstGeom prst="ellipse">
            <a:avLst/>
          </a:prstGeom>
          <a:solidFill>
            <a:srgbClr val="8888CC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04135" y="24152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888CC"/>
                </a:solidFill>
              </a:rPr>
              <a:t>7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486307" y="1264297"/>
            <a:ext cx="102413" cy="102413"/>
          </a:xfrm>
          <a:prstGeom prst="ellipse">
            <a:avLst/>
          </a:prstGeom>
          <a:solidFill>
            <a:srgbClr val="8888CC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74448" y="109421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888CC"/>
                </a:solidFill>
              </a:rPr>
              <a:t>8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259788" y="3103541"/>
            <a:ext cx="102413" cy="102413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94614" y="2926171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0D9"/>
                </a:solidFill>
              </a:rPr>
              <a:t>1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420882" y="3139586"/>
            <a:ext cx="102413" cy="102413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09406" y="297423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0D9"/>
                </a:solidFill>
              </a:rPr>
              <a:t>2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554845" y="3236045"/>
            <a:ext cx="102413" cy="102413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88024" y="3102841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0D9"/>
                </a:solidFill>
              </a:rPr>
              <a:t>3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272411" y="2408712"/>
            <a:ext cx="102413" cy="102413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07237" y="2231341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0D9"/>
                </a:solidFill>
              </a:rPr>
              <a:t>4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705575" y="2505633"/>
            <a:ext cx="102413" cy="102413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94098" y="2340277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0D9"/>
                </a:solidFill>
              </a:rPr>
              <a:t>5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065788" y="2764998"/>
            <a:ext cx="102413" cy="102413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098966" y="263179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0D9"/>
                </a:solidFill>
              </a:rPr>
              <a:t>6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284204" y="1759595"/>
            <a:ext cx="102413" cy="102413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19030" y="158222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0D9"/>
                </a:solidFill>
              </a:rPr>
              <a:t>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543116" y="2324942"/>
            <a:ext cx="102413" cy="102413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76294" y="219173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0D9"/>
                </a:solidFill>
              </a:rPr>
              <a:t>8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579741" y="3332320"/>
            <a:ext cx="237744" cy="237744"/>
          </a:xfrm>
          <a:prstGeom prst="ellipse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32776" y="3385355"/>
            <a:ext cx="131674" cy="131674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11438" y="332142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</a:rPr>
              <a:t>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231072" y="2999002"/>
            <a:ext cx="102413" cy="102413"/>
          </a:xfrm>
          <a:prstGeom prst="ellipse">
            <a:avLst/>
          </a:prstGeom>
          <a:solidFill>
            <a:srgbClr val="7B68E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284740" y="2894807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B68EE"/>
                </a:solidFill>
              </a:rPr>
              <a:t>2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314674" y="3205817"/>
            <a:ext cx="102413" cy="102413"/>
          </a:xfrm>
          <a:prstGeom prst="ellipse">
            <a:avLst/>
          </a:prstGeom>
          <a:solidFill>
            <a:srgbClr val="7B68E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378705" y="3127261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B68EE"/>
                </a:solidFill>
              </a:rPr>
              <a:t>3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355091" y="3425198"/>
            <a:ext cx="102413" cy="102413"/>
          </a:xfrm>
          <a:prstGeom prst="ellipse">
            <a:avLst/>
          </a:prstGeom>
          <a:solidFill>
            <a:srgbClr val="7B68E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24133" y="337383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B68EE"/>
                </a:solidFill>
              </a:rPr>
              <a:t>4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938042" y="3024423"/>
            <a:ext cx="102413" cy="102413"/>
          </a:xfrm>
          <a:prstGeom prst="ellipse">
            <a:avLst/>
          </a:prstGeom>
          <a:solidFill>
            <a:srgbClr val="7B68E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002074" y="2945867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B68EE"/>
                </a:solidFill>
              </a:rPr>
              <a:t>5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273502" y="3643684"/>
            <a:ext cx="237744" cy="237744"/>
          </a:xfrm>
          <a:prstGeom prst="ellipse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26537" y="3696719"/>
            <a:ext cx="131674" cy="131674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408484" y="369546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</a:rPr>
              <a:t>1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862826" y="4437694"/>
            <a:ext cx="102413" cy="102413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870843" y="451184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2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980082" y="3826591"/>
            <a:ext cx="102413" cy="102413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047398" y="38107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3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907448" y="4100470"/>
            <a:ext cx="102413" cy="102413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969090" y="410598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4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791703" y="4359099"/>
            <a:ext cx="102413" cy="102413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844302" y="438481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5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635860" y="4595740"/>
            <a:ext cx="102413" cy="102413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676284" y="463994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6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443980" y="4804229"/>
            <a:ext cx="102413" cy="102413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469413" y="486472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7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221060" y="4979136"/>
            <a:ext cx="102413" cy="102413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229078" y="50532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</a:rPr>
              <a:t>8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360934" y="3911838"/>
            <a:ext cx="102413" cy="102413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329476" y="400389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AA6E"/>
                </a:solidFill>
              </a:rPr>
              <a:t>1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5156091" y="3857776"/>
            <a:ext cx="237744" cy="237744"/>
          </a:xfrm>
          <a:prstGeom prst="ellipse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09126" y="3910811"/>
            <a:ext cx="131674" cy="131674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146572" y="4022037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</a:rPr>
              <a:t>2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089783" y="3892974"/>
            <a:ext cx="102413" cy="102413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967941" y="397874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AA6E"/>
                </a:solidFill>
              </a:rPr>
              <a:t>3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5544383" y="4582132"/>
            <a:ext cx="102413" cy="102413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512924" y="467419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AA6E"/>
                </a:solidFill>
              </a:rPr>
              <a:t>4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5299591" y="4620367"/>
            <a:ext cx="102413" cy="102413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237786" y="471716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AA6E"/>
                </a:solidFill>
              </a:rPr>
              <a:t>5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052428" y="4603172"/>
            <a:ext cx="102413" cy="102413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959983" y="469784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AA6E"/>
                </a:solidFill>
              </a:rPr>
              <a:t>6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815288" y="4531410"/>
            <a:ext cx="102413" cy="102413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693446" y="461718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AA6E"/>
                </a:solidFill>
              </a:rPr>
              <a:t>7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5130470" y="5266368"/>
            <a:ext cx="102413" cy="102413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053285" y="536296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AA6E"/>
                </a:solidFill>
              </a:rPr>
              <a:t>8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4930508" y="3770906"/>
            <a:ext cx="237744" cy="237744"/>
          </a:xfrm>
          <a:prstGeom prst="ellipse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983543" y="3823941"/>
            <a:ext cx="131674" cy="131674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845795" y="3906211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</a:rPr>
              <a:t>1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4921238" y="3759299"/>
            <a:ext cx="102413" cy="102413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743213" y="380051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59B6"/>
                </a:solidFill>
              </a:rPr>
              <a:t>2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4800498" y="3594749"/>
            <a:ext cx="237744" cy="237744"/>
          </a:xfrm>
          <a:prstGeom prst="ellipse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53534" y="3647784"/>
            <a:ext cx="131674" cy="131674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672448" y="367133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A0"/>
                </a:solidFill>
              </a:rPr>
              <a:t>3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4568959" y="4385126"/>
            <a:ext cx="102413" cy="102413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416580" y="445276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59B6"/>
                </a:solidFill>
              </a:rPr>
              <a:t>4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4362087" y="4171971"/>
            <a:ext cx="102413" cy="102413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4184063" y="421318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59B6"/>
                </a:solidFill>
              </a:rPr>
              <a:t>5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219378" y="3911461"/>
            <a:ext cx="102413" cy="102413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023662" y="3920381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59B6"/>
                </a:solidFill>
              </a:rPr>
              <a:t>6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4167983" y="4895724"/>
            <a:ext cx="102413" cy="102413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015604" y="496336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59B6"/>
                </a:solidFill>
              </a:rPr>
              <a:t>7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3613275" y="4144122"/>
            <a:ext cx="102413" cy="102413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3417560" y="415304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59B6"/>
                </a:solidFill>
              </a:rPr>
              <a:t>8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4162630" y="3706694"/>
            <a:ext cx="102413" cy="102413"/>
          </a:xfrm>
          <a:prstGeom prst="ellipse">
            <a:avLst/>
          </a:prstGeom>
          <a:solidFill>
            <a:srgbClr val="E8A02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3959880" y="369023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A020"/>
                </a:solidFill>
              </a:rPr>
              <a:t>1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164741" y="3311580"/>
            <a:ext cx="102413" cy="102413"/>
          </a:xfrm>
          <a:prstGeom prst="ellipse">
            <a:avLst/>
          </a:prstGeom>
          <a:solidFill>
            <a:srgbClr val="E8A02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962253" y="324613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A020"/>
                </a:solidFill>
              </a:rPr>
              <a:t>2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496691" y="3505573"/>
            <a:ext cx="102413" cy="102413"/>
          </a:xfrm>
          <a:prstGeom prst="ellipse">
            <a:avLst/>
          </a:prstGeom>
          <a:solidFill>
            <a:srgbClr val="E8A02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3291867" y="3464607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A020"/>
                </a:solidFill>
              </a:rPr>
              <a:t>3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8979408" y="1042416"/>
            <a:ext cx="1554480" cy="201168"/>
          </a:xfrm>
          <a:prstGeom prst="rect">
            <a:avLst/>
          </a:prstGeom>
          <a:solidFill>
            <a:srgbClr val="E85D4A">
              <a:alpha val="15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8979408" y="1042416"/>
            <a:ext cx="54864" cy="201168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9070848" y="106984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5D4A"/>
                </a:solidFill>
              </a:rPr>
              <a:t>Reasoning &amp; Math</a:t>
            </a:r>
            <a:endParaRPr lang="en-US" sz="750" dirty="0"/>
          </a:p>
        </p:txBody>
      </p:sp>
      <p:sp>
        <p:nvSpPr>
          <p:cNvPr id="123" name="Text 121"/>
          <p:cNvSpPr txBox="1"/>
          <p:nvPr/>
        </p:nvSpPr>
        <p:spPr>
          <a:xfrm>
            <a:off x="9034272" y="1261872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A0"/>
                </a:solidFill>
              </a:rPr>
              <a:t>1. HLE ✓</a:t>
            </a:r>
            <a:endParaRPr lang="en-US" sz="650" dirty="0"/>
          </a:p>
        </p:txBody>
      </p:sp>
      <p:sp>
        <p:nvSpPr>
          <p:cNvPr id="124" name="Text 122"/>
          <p:cNvSpPr txBox="1"/>
          <p:nvPr/>
        </p:nvSpPr>
        <p:spPr>
          <a:xfrm>
            <a:off x="9034272" y="1410005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2. FrontierMath</a:t>
            </a:r>
            <a:endParaRPr lang="en-US" sz="650" dirty="0"/>
          </a:p>
        </p:txBody>
      </p:sp>
      <p:sp>
        <p:nvSpPr>
          <p:cNvPr id="125" name="Text 123"/>
          <p:cNvSpPr txBox="1"/>
          <p:nvPr/>
        </p:nvSpPr>
        <p:spPr>
          <a:xfrm>
            <a:off x="9034272" y="1558138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3. AIME 2025</a:t>
            </a:r>
            <a:endParaRPr lang="en-US" sz="650" dirty="0"/>
          </a:p>
        </p:txBody>
      </p:sp>
      <p:sp>
        <p:nvSpPr>
          <p:cNvPr id="126" name="Text 124"/>
          <p:cNvSpPr txBox="1"/>
          <p:nvPr/>
        </p:nvSpPr>
        <p:spPr>
          <a:xfrm>
            <a:off x="9034272" y="1706270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4. AIME 2026</a:t>
            </a:r>
            <a:endParaRPr lang="en-US" sz="650" dirty="0"/>
          </a:p>
        </p:txBody>
      </p:sp>
      <p:sp>
        <p:nvSpPr>
          <p:cNvPr id="127" name="Text 125"/>
          <p:cNvSpPr txBox="1"/>
          <p:nvPr/>
        </p:nvSpPr>
        <p:spPr>
          <a:xfrm>
            <a:off x="9034272" y="1854403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5. ARC-AGI-2</a:t>
            </a:r>
            <a:endParaRPr lang="en-US" sz="650" dirty="0"/>
          </a:p>
        </p:txBody>
      </p:sp>
      <p:sp>
        <p:nvSpPr>
          <p:cNvPr id="128" name="Text 126"/>
          <p:cNvSpPr txBox="1"/>
          <p:nvPr/>
        </p:nvSpPr>
        <p:spPr>
          <a:xfrm>
            <a:off x="9034272" y="2002536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6. MATH-500</a:t>
            </a:r>
            <a:endParaRPr lang="en-US" sz="650" dirty="0"/>
          </a:p>
        </p:txBody>
      </p:sp>
      <p:sp>
        <p:nvSpPr>
          <p:cNvPr id="129" name="Text 127"/>
          <p:cNvSpPr txBox="1"/>
          <p:nvPr/>
        </p:nvSpPr>
        <p:spPr>
          <a:xfrm>
            <a:off x="9034272" y="2150669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7. GPQA Diamond</a:t>
            </a:r>
            <a:endParaRPr lang="en-US" sz="650" dirty="0"/>
          </a:p>
        </p:txBody>
      </p:sp>
      <p:sp>
        <p:nvSpPr>
          <p:cNvPr id="130" name="Text 128"/>
          <p:cNvSpPr txBox="1"/>
          <p:nvPr/>
        </p:nvSpPr>
        <p:spPr>
          <a:xfrm>
            <a:off x="9034272" y="2298802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8. MMLU-Pro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8979408" y="2520086"/>
            <a:ext cx="1554480" cy="201168"/>
          </a:xfrm>
          <a:prstGeom prst="rect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8979408" y="2520086"/>
            <a:ext cx="54864" cy="2011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070848" y="254751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90D9"/>
                </a:solidFill>
              </a:rPr>
              <a:t>Coding &amp; SWE</a:t>
            </a:r>
            <a:endParaRPr lang="en-US" sz="750" dirty="0"/>
          </a:p>
        </p:txBody>
      </p:sp>
      <p:sp>
        <p:nvSpPr>
          <p:cNvPr id="134" name="Text 132"/>
          <p:cNvSpPr txBox="1"/>
          <p:nvPr/>
        </p:nvSpPr>
        <p:spPr>
          <a:xfrm>
            <a:off x="9034272" y="2739542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1. SWE-Bench Pro</a:t>
            </a:r>
            <a:endParaRPr lang="en-US" sz="650" dirty="0"/>
          </a:p>
        </p:txBody>
      </p:sp>
      <p:sp>
        <p:nvSpPr>
          <p:cNvPr id="135" name="Text 133"/>
          <p:cNvSpPr txBox="1"/>
          <p:nvPr/>
        </p:nvSpPr>
        <p:spPr>
          <a:xfrm>
            <a:off x="9034272" y="2887675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2. Terminal-Bench 4.0</a:t>
            </a:r>
            <a:endParaRPr lang="en-US" sz="650" dirty="0"/>
          </a:p>
        </p:txBody>
      </p:sp>
      <p:sp>
        <p:nvSpPr>
          <p:cNvPr id="136" name="Text 134"/>
          <p:cNvSpPr txBox="1"/>
          <p:nvPr/>
        </p:nvSpPr>
        <p:spPr>
          <a:xfrm>
            <a:off x="9034272" y="3035808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3. FrontierCode Diamond</a:t>
            </a:r>
            <a:endParaRPr lang="en-US" sz="650" dirty="0"/>
          </a:p>
        </p:txBody>
      </p:sp>
      <p:sp>
        <p:nvSpPr>
          <p:cNvPr id="137" name="Text 135"/>
          <p:cNvSpPr txBox="1"/>
          <p:nvPr/>
        </p:nvSpPr>
        <p:spPr>
          <a:xfrm>
            <a:off x="9034272" y="3183941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4. LiveCodeBench v6</a:t>
            </a:r>
            <a:endParaRPr lang="en-US" sz="650" dirty="0"/>
          </a:p>
        </p:txBody>
      </p:sp>
      <p:sp>
        <p:nvSpPr>
          <p:cNvPr id="138" name="Text 136"/>
          <p:cNvSpPr txBox="1"/>
          <p:nvPr/>
        </p:nvSpPr>
        <p:spPr>
          <a:xfrm>
            <a:off x="9034272" y="3332074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5. DeepSWE v1.1</a:t>
            </a:r>
            <a:endParaRPr lang="en-US" sz="650" dirty="0"/>
          </a:p>
        </p:txBody>
      </p:sp>
      <p:sp>
        <p:nvSpPr>
          <p:cNvPr id="139" name="Text 137"/>
          <p:cNvSpPr txBox="1"/>
          <p:nvPr/>
        </p:nvSpPr>
        <p:spPr>
          <a:xfrm>
            <a:off x="9034272" y="3480206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6. SWE-Bench Multilingual</a:t>
            </a:r>
            <a:endParaRPr lang="en-US" sz="650" dirty="0"/>
          </a:p>
        </p:txBody>
      </p:sp>
      <p:sp>
        <p:nvSpPr>
          <p:cNvPr id="140" name="Text 138"/>
          <p:cNvSpPr txBox="1"/>
          <p:nvPr/>
        </p:nvSpPr>
        <p:spPr>
          <a:xfrm>
            <a:off x="9034272" y="3628339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7. BigCodeBench</a:t>
            </a:r>
            <a:endParaRPr lang="en-US" sz="650" dirty="0"/>
          </a:p>
        </p:txBody>
      </p:sp>
      <p:sp>
        <p:nvSpPr>
          <p:cNvPr id="141" name="Text 139"/>
          <p:cNvSpPr txBox="1"/>
          <p:nvPr/>
        </p:nvSpPr>
        <p:spPr>
          <a:xfrm>
            <a:off x="9034272" y="3776472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8. SciCode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8979408" y="3997757"/>
            <a:ext cx="1554480" cy="201168"/>
          </a:xfrm>
          <a:prstGeom prst="rect">
            <a:avLst/>
          </a:prstGeom>
          <a:solidFill>
            <a:srgbClr val="7B68EE">
              <a:alpha val="15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8979408" y="3997757"/>
            <a:ext cx="54864" cy="201168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070848" y="4025189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68EE"/>
                </a:solidFill>
              </a:rPr>
              <a:t>Long Context</a:t>
            </a:r>
            <a:endParaRPr lang="en-US" sz="750" dirty="0"/>
          </a:p>
        </p:txBody>
      </p:sp>
      <p:sp>
        <p:nvSpPr>
          <p:cNvPr id="145" name="Text 143"/>
          <p:cNvSpPr txBox="1"/>
          <p:nvPr/>
        </p:nvSpPr>
        <p:spPr>
          <a:xfrm>
            <a:off x="9034272" y="4217213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A0"/>
                </a:solidFill>
              </a:rPr>
              <a:t>1. MRCR v2 ✓</a:t>
            </a:r>
            <a:endParaRPr lang="en-US" sz="650" dirty="0"/>
          </a:p>
        </p:txBody>
      </p:sp>
      <p:sp>
        <p:nvSpPr>
          <p:cNvPr id="146" name="Text 144"/>
          <p:cNvSpPr txBox="1"/>
          <p:nvPr/>
        </p:nvSpPr>
        <p:spPr>
          <a:xfrm>
            <a:off x="9034272" y="4365346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2. GraphWalks BFS</a:t>
            </a:r>
            <a:endParaRPr lang="en-US" sz="650" dirty="0"/>
          </a:p>
        </p:txBody>
      </p:sp>
      <p:sp>
        <p:nvSpPr>
          <p:cNvPr id="147" name="Text 145"/>
          <p:cNvSpPr txBox="1"/>
          <p:nvPr/>
        </p:nvSpPr>
        <p:spPr>
          <a:xfrm>
            <a:off x="9034272" y="4513478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3. NoLiMa</a:t>
            </a:r>
            <a:endParaRPr lang="en-US" sz="650" dirty="0"/>
          </a:p>
        </p:txBody>
      </p:sp>
      <p:sp>
        <p:nvSpPr>
          <p:cNvPr id="148" name="Text 146"/>
          <p:cNvSpPr txBox="1"/>
          <p:nvPr/>
        </p:nvSpPr>
        <p:spPr>
          <a:xfrm>
            <a:off x="9034272" y="4661611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4. RULER</a:t>
            </a:r>
            <a:endParaRPr lang="en-US" sz="650" dirty="0"/>
          </a:p>
        </p:txBody>
      </p:sp>
      <p:sp>
        <p:nvSpPr>
          <p:cNvPr id="149" name="Text 147"/>
          <p:cNvSpPr txBox="1"/>
          <p:nvPr/>
        </p:nvSpPr>
        <p:spPr>
          <a:xfrm>
            <a:off x="9034272" y="4809744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5. LongBench v2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8979408" y="5031029"/>
            <a:ext cx="1554480" cy="201168"/>
          </a:xfrm>
          <a:prstGeom prst="rect">
            <a:avLst/>
          </a:prstGeom>
          <a:solidFill>
            <a:srgbClr val="F0A500">
              <a:alpha val="15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8979408" y="5031029"/>
            <a:ext cx="54864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9070848" y="5058461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A500"/>
                </a:solidFill>
              </a:rPr>
              <a:t>Multimodal</a:t>
            </a:r>
            <a:endParaRPr lang="en-US" sz="750" dirty="0"/>
          </a:p>
        </p:txBody>
      </p:sp>
      <p:sp>
        <p:nvSpPr>
          <p:cNvPr id="153" name="Text 151"/>
          <p:cNvSpPr txBox="1"/>
          <p:nvPr/>
        </p:nvSpPr>
        <p:spPr>
          <a:xfrm>
            <a:off x="9034272" y="5250485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A0"/>
                </a:solidFill>
              </a:rPr>
              <a:t>1. MathVista ✓</a:t>
            </a:r>
            <a:endParaRPr lang="en-US" sz="650" dirty="0"/>
          </a:p>
        </p:txBody>
      </p:sp>
      <p:sp>
        <p:nvSpPr>
          <p:cNvPr id="154" name="Text 152"/>
          <p:cNvSpPr txBox="1"/>
          <p:nvPr/>
        </p:nvSpPr>
        <p:spPr>
          <a:xfrm>
            <a:off x="9034272" y="5398618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2. MMMU-Pro</a:t>
            </a:r>
            <a:endParaRPr lang="en-US" sz="650" dirty="0"/>
          </a:p>
        </p:txBody>
      </p:sp>
      <p:sp>
        <p:nvSpPr>
          <p:cNvPr id="155" name="Text 153"/>
          <p:cNvSpPr txBox="1"/>
          <p:nvPr/>
        </p:nvSpPr>
        <p:spPr>
          <a:xfrm>
            <a:off x="9034272" y="5546750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3. CharXiv</a:t>
            </a:r>
            <a:endParaRPr lang="en-US" sz="650" dirty="0"/>
          </a:p>
        </p:txBody>
      </p:sp>
      <p:sp>
        <p:nvSpPr>
          <p:cNvPr id="156" name="Text 154"/>
          <p:cNvSpPr txBox="1"/>
          <p:nvPr/>
        </p:nvSpPr>
        <p:spPr>
          <a:xfrm>
            <a:off x="9034272" y="5694883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4. CharXiv-R</a:t>
            </a:r>
            <a:endParaRPr lang="en-US" sz="650" dirty="0"/>
          </a:p>
        </p:txBody>
      </p:sp>
      <p:sp>
        <p:nvSpPr>
          <p:cNvPr id="157" name="Text 155"/>
          <p:cNvSpPr txBox="1"/>
          <p:nvPr/>
        </p:nvSpPr>
        <p:spPr>
          <a:xfrm>
            <a:off x="9034272" y="5843016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5. DocVQA</a:t>
            </a:r>
            <a:endParaRPr lang="en-US" sz="650" dirty="0"/>
          </a:p>
        </p:txBody>
      </p:sp>
      <p:sp>
        <p:nvSpPr>
          <p:cNvPr id="158" name="Text 156"/>
          <p:cNvSpPr txBox="1"/>
          <p:nvPr/>
        </p:nvSpPr>
        <p:spPr>
          <a:xfrm>
            <a:off x="9034272" y="5991149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6. MathVision</a:t>
            </a:r>
            <a:endParaRPr lang="en-US" sz="650" dirty="0"/>
          </a:p>
        </p:txBody>
      </p:sp>
      <p:sp>
        <p:nvSpPr>
          <p:cNvPr id="159" name="Text 157"/>
          <p:cNvSpPr txBox="1"/>
          <p:nvPr/>
        </p:nvSpPr>
        <p:spPr>
          <a:xfrm>
            <a:off x="9034272" y="6139282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7. MMVU</a:t>
            </a:r>
            <a:endParaRPr lang="en-US" sz="650" dirty="0"/>
          </a:p>
        </p:txBody>
      </p:sp>
      <p:sp>
        <p:nvSpPr>
          <p:cNvPr id="160" name="Text 158"/>
          <p:cNvSpPr txBox="1"/>
          <p:nvPr/>
        </p:nvSpPr>
        <p:spPr>
          <a:xfrm>
            <a:off x="9034272" y="6287414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8. Chartography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10607040" y="1042416"/>
            <a:ext cx="1554480" cy="201168"/>
          </a:xfrm>
          <a:prstGeom prst="rect">
            <a:avLst/>
          </a:prstGeom>
          <a:solidFill>
            <a:srgbClr val="3DAA6E">
              <a:alpha val="15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10607040" y="1042416"/>
            <a:ext cx="54864" cy="20116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10698480" y="106984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AA6E"/>
                </a:solidFill>
              </a:rPr>
              <a:t>Agents &amp; Tools</a:t>
            </a:r>
            <a:endParaRPr lang="en-US" sz="750" dirty="0"/>
          </a:p>
        </p:txBody>
      </p:sp>
      <p:sp>
        <p:nvSpPr>
          <p:cNvPr id="164" name="Text 162"/>
          <p:cNvSpPr txBox="1"/>
          <p:nvPr/>
        </p:nvSpPr>
        <p:spPr>
          <a:xfrm>
            <a:off x="10661904" y="1261872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1. MCP Atlas</a:t>
            </a:r>
            <a:endParaRPr lang="en-US" sz="650" dirty="0"/>
          </a:p>
        </p:txBody>
      </p:sp>
      <p:sp>
        <p:nvSpPr>
          <p:cNvPr id="165" name="Text 163"/>
          <p:cNvSpPr txBox="1"/>
          <p:nvPr/>
        </p:nvSpPr>
        <p:spPr>
          <a:xfrm>
            <a:off x="10661904" y="1410005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A0"/>
                </a:solidFill>
              </a:rPr>
              <a:t>2. tau2-bench ✓</a:t>
            </a:r>
            <a:endParaRPr lang="en-US" sz="650" dirty="0"/>
          </a:p>
        </p:txBody>
      </p:sp>
      <p:sp>
        <p:nvSpPr>
          <p:cNvPr id="166" name="Text 164"/>
          <p:cNvSpPr txBox="1"/>
          <p:nvPr/>
        </p:nvSpPr>
        <p:spPr>
          <a:xfrm>
            <a:off x="10661904" y="1558138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3. Agents Last Exam</a:t>
            </a:r>
            <a:endParaRPr lang="en-US" sz="650" dirty="0"/>
          </a:p>
        </p:txBody>
      </p:sp>
      <p:sp>
        <p:nvSpPr>
          <p:cNvPr id="167" name="Text 165"/>
          <p:cNvSpPr txBox="1"/>
          <p:nvPr/>
        </p:nvSpPr>
        <p:spPr>
          <a:xfrm>
            <a:off x="10661904" y="1706270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4. BrowseComp</a:t>
            </a:r>
            <a:endParaRPr lang="en-US" sz="650" dirty="0"/>
          </a:p>
        </p:txBody>
      </p:sp>
      <p:sp>
        <p:nvSpPr>
          <p:cNvPr id="168" name="Text 166"/>
          <p:cNvSpPr txBox="1"/>
          <p:nvPr/>
        </p:nvSpPr>
        <p:spPr>
          <a:xfrm>
            <a:off x="10661904" y="1854403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5. OSWorld 2.0</a:t>
            </a:r>
            <a:endParaRPr lang="en-US" sz="650" dirty="0"/>
          </a:p>
        </p:txBody>
      </p:sp>
      <p:sp>
        <p:nvSpPr>
          <p:cNvPr id="169" name="Text 167"/>
          <p:cNvSpPr txBox="1"/>
          <p:nvPr/>
        </p:nvSpPr>
        <p:spPr>
          <a:xfrm>
            <a:off x="10661904" y="2002536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6. BFCL v4</a:t>
            </a:r>
            <a:endParaRPr lang="en-US" sz="650" dirty="0"/>
          </a:p>
        </p:txBody>
      </p:sp>
      <p:sp>
        <p:nvSpPr>
          <p:cNvPr id="170" name="Text 168"/>
          <p:cNvSpPr txBox="1"/>
          <p:nvPr/>
        </p:nvSpPr>
        <p:spPr>
          <a:xfrm>
            <a:off x="10661904" y="2150669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7. Toolathlon</a:t>
            </a:r>
            <a:endParaRPr lang="en-US" sz="650" dirty="0"/>
          </a:p>
        </p:txBody>
      </p:sp>
      <p:sp>
        <p:nvSpPr>
          <p:cNvPr id="171" name="Text 169"/>
          <p:cNvSpPr txBox="1"/>
          <p:nvPr/>
        </p:nvSpPr>
        <p:spPr>
          <a:xfrm>
            <a:off x="10661904" y="2298802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8. APEX-Agents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10607040" y="2520086"/>
            <a:ext cx="1554480" cy="201168"/>
          </a:xfrm>
          <a:prstGeom prst="rect">
            <a:avLst/>
          </a:prstGeom>
          <a:solidFill>
            <a:srgbClr val="9B59B6">
              <a:alpha val="15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10607040" y="2520086"/>
            <a:ext cx="54864" cy="20116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10698480" y="254751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B59B6"/>
                </a:solidFill>
              </a:rPr>
              <a:t>Knowledge &amp; Language</a:t>
            </a:r>
            <a:endParaRPr lang="en-US" sz="750" dirty="0"/>
          </a:p>
        </p:txBody>
      </p:sp>
      <p:sp>
        <p:nvSpPr>
          <p:cNvPr id="175" name="Text 173"/>
          <p:cNvSpPr txBox="1"/>
          <p:nvPr/>
        </p:nvSpPr>
        <p:spPr>
          <a:xfrm>
            <a:off x="10661904" y="2739542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A0"/>
                </a:solidFill>
              </a:rPr>
              <a:t>1. TMMLU+ ✓</a:t>
            </a:r>
            <a:endParaRPr lang="en-US" sz="650" dirty="0"/>
          </a:p>
        </p:txBody>
      </p:sp>
      <p:sp>
        <p:nvSpPr>
          <p:cNvPr id="176" name="Text 174"/>
          <p:cNvSpPr txBox="1"/>
          <p:nvPr/>
        </p:nvSpPr>
        <p:spPr>
          <a:xfrm>
            <a:off x="10661904" y="2887675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2. TW-LegalBench</a:t>
            </a:r>
            <a:endParaRPr lang="en-US" sz="650" dirty="0"/>
          </a:p>
        </p:txBody>
      </p:sp>
      <p:sp>
        <p:nvSpPr>
          <p:cNvPr id="177" name="Text 175"/>
          <p:cNvSpPr txBox="1"/>
          <p:nvPr/>
        </p:nvSpPr>
        <p:spPr>
          <a:xfrm>
            <a:off x="10661904" y="3035808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E5A0"/>
                </a:solidFill>
              </a:rPr>
              <a:t>3. AIEC ✓</a:t>
            </a:r>
            <a:endParaRPr lang="en-US" sz="650" dirty="0"/>
          </a:p>
        </p:txBody>
      </p:sp>
      <p:sp>
        <p:nvSpPr>
          <p:cNvPr id="178" name="Text 176"/>
          <p:cNvSpPr txBox="1"/>
          <p:nvPr/>
        </p:nvSpPr>
        <p:spPr>
          <a:xfrm>
            <a:off x="10661904" y="3183941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4. MMMLU</a:t>
            </a:r>
            <a:endParaRPr lang="en-US" sz="650" dirty="0"/>
          </a:p>
        </p:txBody>
      </p:sp>
      <p:sp>
        <p:nvSpPr>
          <p:cNvPr id="179" name="Text 177"/>
          <p:cNvSpPr txBox="1"/>
          <p:nvPr/>
        </p:nvSpPr>
        <p:spPr>
          <a:xfrm>
            <a:off x="10661904" y="3332074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5. GDPval-AA</a:t>
            </a:r>
            <a:endParaRPr lang="en-US" sz="650" dirty="0"/>
          </a:p>
        </p:txBody>
      </p:sp>
      <p:sp>
        <p:nvSpPr>
          <p:cNvPr id="180" name="Text 178"/>
          <p:cNvSpPr txBox="1"/>
          <p:nvPr/>
        </p:nvSpPr>
        <p:spPr>
          <a:xfrm>
            <a:off x="10661904" y="3480206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6. IFEval</a:t>
            </a:r>
            <a:endParaRPr lang="en-US" sz="650" dirty="0"/>
          </a:p>
        </p:txBody>
      </p:sp>
      <p:sp>
        <p:nvSpPr>
          <p:cNvPr id="181" name="Text 179"/>
          <p:cNvSpPr txBox="1"/>
          <p:nvPr/>
        </p:nvSpPr>
        <p:spPr>
          <a:xfrm>
            <a:off x="10661904" y="3628339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7. SimpleQA</a:t>
            </a:r>
            <a:endParaRPr lang="en-US" sz="650" dirty="0"/>
          </a:p>
        </p:txBody>
      </p:sp>
      <p:sp>
        <p:nvSpPr>
          <p:cNvPr id="182" name="Text 180"/>
          <p:cNvSpPr txBox="1"/>
          <p:nvPr/>
        </p:nvSpPr>
        <p:spPr>
          <a:xfrm>
            <a:off x="10661904" y="3776472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8. DRCD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10607040" y="3997757"/>
            <a:ext cx="1554480" cy="201168"/>
          </a:xfrm>
          <a:prstGeom prst="rect">
            <a:avLst/>
          </a:prstGeom>
          <a:solidFill>
            <a:srgbClr val="E8A020">
              <a:alpha val="15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10607040" y="3997757"/>
            <a:ext cx="54864" cy="20116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10698480" y="4025189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A020"/>
                </a:solidFill>
              </a:rPr>
              <a:t>Data &amp; ML</a:t>
            </a:r>
            <a:endParaRPr lang="en-US" sz="750" dirty="0"/>
          </a:p>
        </p:txBody>
      </p:sp>
      <p:sp>
        <p:nvSpPr>
          <p:cNvPr id="186" name="Text 184"/>
          <p:cNvSpPr txBox="1"/>
          <p:nvPr/>
        </p:nvSpPr>
        <p:spPr>
          <a:xfrm>
            <a:off x="10661904" y="4217213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1. MLE-Bench</a:t>
            </a:r>
            <a:endParaRPr lang="en-US" sz="650" dirty="0"/>
          </a:p>
        </p:txBody>
      </p:sp>
      <p:sp>
        <p:nvSpPr>
          <p:cNvPr id="187" name="Text 185"/>
          <p:cNvSpPr txBox="1"/>
          <p:nvPr/>
        </p:nvSpPr>
        <p:spPr>
          <a:xfrm>
            <a:off x="10661904" y="4365346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2. DSBench</a:t>
            </a:r>
            <a:endParaRPr lang="en-US" sz="650" dirty="0"/>
          </a:p>
        </p:txBody>
      </p:sp>
      <p:sp>
        <p:nvSpPr>
          <p:cNvPr id="188" name="Text 186"/>
          <p:cNvSpPr txBox="1"/>
          <p:nvPr/>
        </p:nvSpPr>
        <p:spPr>
          <a:xfrm>
            <a:off x="10661904" y="4513478"/>
            <a:ext cx="148132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B0C8"/>
                </a:solidFill>
              </a:rPr>
              <a:t>3. SpreadsheetBench</a:t>
            </a:r>
            <a:endParaRPr lang="en-US" sz="650" dirty="0"/>
          </a:p>
        </p:txBody>
      </p:sp>
      <p:sp>
        <p:nvSpPr>
          <p:cNvPr id="189" name="Text 187"/>
          <p:cNvSpPr txBox="1"/>
          <p:nvPr/>
        </p:nvSpPr>
        <p:spPr>
          <a:xfrm>
            <a:off x="2802445" y="1315967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4A"/>
                </a:solidFill>
              </a:rPr>
              <a:t>Reasoning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5D4A"/>
                </a:solidFill>
              </a:rPr>
              <a:t>&amp; Math</a:t>
            </a:r>
            <a:endParaRPr lang="en-US" sz="800" dirty="0"/>
          </a:p>
        </p:txBody>
      </p:sp>
      <p:sp>
        <p:nvSpPr>
          <p:cNvPr id="190" name="Text 188"/>
          <p:cNvSpPr txBox="1"/>
          <p:nvPr/>
        </p:nvSpPr>
        <p:spPr>
          <a:xfrm>
            <a:off x="5877899" y="83559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</a:rPr>
              <a:t>Coding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</a:rPr>
              <a:t>&amp; SWE</a:t>
            </a:r>
            <a:endParaRPr lang="en-US" sz="800" dirty="0"/>
          </a:p>
        </p:txBody>
      </p:sp>
      <p:sp>
        <p:nvSpPr>
          <p:cNvPr id="191" name="Text 189"/>
          <p:cNvSpPr txBox="1"/>
          <p:nvPr/>
        </p:nvSpPr>
        <p:spPr>
          <a:xfrm>
            <a:off x="7104888" y="26410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68EE"/>
                </a:solidFill>
              </a:rPr>
              <a:t>Long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B68EE"/>
                </a:solidFill>
              </a:rPr>
              <a:t>Context</a:t>
            </a:r>
            <a:endParaRPr lang="en-US" sz="800" dirty="0"/>
          </a:p>
        </p:txBody>
      </p:sp>
      <p:sp>
        <p:nvSpPr>
          <p:cNvPr id="192" name="Text 190"/>
          <p:cNvSpPr txBox="1"/>
          <p:nvPr/>
        </p:nvSpPr>
        <p:spPr>
          <a:xfrm>
            <a:off x="7091815" y="50072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Multimodal</a:t>
            </a:r>
            <a:endParaRPr lang="en-US" sz="800" dirty="0"/>
          </a:p>
        </p:txBody>
      </p:sp>
      <p:sp>
        <p:nvSpPr>
          <p:cNvPr id="193" name="Text 191"/>
          <p:cNvSpPr txBox="1"/>
          <p:nvPr/>
        </p:nvSpPr>
        <p:spPr>
          <a:xfrm>
            <a:off x="4511164" y="6284193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AA6E"/>
                </a:solidFill>
              </a:rPr>
              <a:t>Agents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DAA6E"/>
                </a:solidFill>
              </a:rPr>
              <a:t>&amp; Tools</a:t>
            </a:r>
            <a:endParaRPr lang="en-US" sz="800" dirty="0"/>
          </a:p>
        </p:txBody>
      </p:sp>
      <p:sp>
        <p:nvSpPr>
          <p:cNvPr id="194" name="Text 192"/>
          <p:cNvSpPr txBox="1"/>
          <p:nvPr/>
        </p:nvSpPr>
        <p:spPr>
          <a:xfrm>
            <a:off x="2413700" y="513227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Knowledge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&amp; Language</a:t>
            </a:r>
            <a:endParaRPr lang="en-US" sz="800" dirty="0"/>
          </a:p>
        </p:txBody>
      </p:sp>
      <p:sp>
        <p:nvSpPr>
          <p:cNvPr id="195" name="Text 193"/>
          <p:cNvSpPr txBox="1"/>
          <p:nvPr/>
        </p:nvSpPr>
        <p:spPr>
          <a:xfrm>
            <a:off x="1856273" y="3422901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&amp; ML</a:t>
            </a:r>
            <a:endParaRPr lang="en-US" sz="800" dirty="0"/>
          </a:p>
        </p:txBody>
      </p:sp>
      <p:sp>
        <p:nvSpPr>
          <p:cNvPr id="196" name="Text 194"/>
          <p:cNvSpPr txBox="1"/>
          <p:nvPr/>
        </p:nvSpPr>
        <p:spPr>
          <a:xfrm>
            <a:off x="320040" y="1645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FoxBrain Benchmark Priority Radar</a:t>
            </a:r>
            <a:endParaRPr lang="en-US" sz="2000" dirty="0"/>
          </a:p>
        </p:txBody>
      </p:sp>
      <p:sp>
        <p:nvSpPr>
          <p:cNvPr id="197" name="Text 195"/>
          <p:cNvSpPr txBox="1"/>
          <p:nvPr/>
        </p:nvSpPr>
        <p:spPr>
          <a:xfrm>
            <a:off x="320040" y="621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8AAF"/>
                </a:solidFill>
              </a:rPr>
              <a:t>Closer to center = higher strategic priority for FoxBrain evaluation</a:t>
            </a:r>
            <a:endParaRPr lang="en-US" sz="950" dirty="0"/>
          </a:p>
        </p:txBody>
      </p:sp>
      <p:sp>
        <p:nvSpPr>
          <p:cNvPr id="198" name="Shape 196"/>
          <p:cNvSpPr/>
          <p:nvPr/>
        </p:nvSpPr>
        <p:spPr>
          <a:xfrm>
            <a:off x="10607040" y="16459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/>
        </p:spPr>
      </p:sp>
      <p:sp>
        <p:nvSpPr>
          <p:cNvPr id="199" name="Text 197"/>
          <p:cNvSpPr txBox="1"/>
          <p:nvPr/>
        </p:nvSpPr>
        <p:spPr>
          <a:xfrm>
            <a:off x="106070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</a:t>
            </a:r>
            <a:endParaRPr lang="en-US" sz="1400" dirty="0"/>
          </a:p>
        </p:txBody>
      </p:sp>
      <p:sp>
        <p:nvSpPr>
          <p:cNvPr id="200" name="Text 198"/>
          <p:cNvSpPr txBox="1"/>
          <p:nvPr/>
        </p:nvSpPr>
        <p:spPr>
          <a:xfrm>
            <a:off x="106070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BRAIN</a:t>
            </a:r>
            <a:endParaRPr lang="en-US" sz="1000" dirty="0"/>
          </a:p>
        </p:txBody>
      </p:sp>
      <p:sp>
        <p:nvSpPr>
          <p:cNvPr id="201" name="Text 199"/>
          <p:cNvSpPr txBox="1"/>
          <p:nvPr/>
        </p:nvSpPr>
        <p:spPr>
          <a:xfrm>
            <a:off x="8979408" y="749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4A64"/>
                </a:solidFill>
              </a:rPr>
              <a:t>BENCHMARKS BY DOMAIN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8979408" y="1005840"/>
            <a:ext cx="3063240" cy="0"/>
          </a:xfrm>
          <a:prstGeom prst="line">
            <a:avLst/>
          </a:prstGeom>
          <a:noFill/>
          <a:ln w="9525">
            <a:solidFill>
              <a:srgbClr val="1E3A5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20040" y="6455664"/>
            <a:ext cx="118872" cy="118872"/>
          </a:xfrm>
          <a:prstGeom prst="ellipse">
            <a:avLst/>
          </a:prstGeom>
          <a:solidFill>
            <a:srgbClr val="FF9088"/>
          </a:solidFill>
          <a:ln/>
        </p:spPr>
      </p:sp>
      <p:sp>
        <p:nvSpPr>
          <p:cNvPr id="204" name="Text 202"/>
          <p:cNvSpPr txBox="1"/>
          <p:nvPr/>
        </p:nvSpPr>
        <p:spPr>
          <a:xfrm>
            <a:off x="493776" y="643737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CRITICAL  Evaluate now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2651760" y="6455664"/>
            <a:ext cx="118872" cy="118872"/>
          </a:xfrm>
          <a:prstGeom prst="ellipse">
            <a:avLst/>
          </a:prstGeom>
          <a:solidFill>
            <a:srgbClr val="FFD060"/>
          </a:solidFill>
          <a:ln/>
        </p:spPr>
      </p:sp>
      <p:sp>
        <p:nvSpPr>
          <p:cNvPr id="206" name="Text 204"/>
          <p:cNvSpPr txBox="1"/>
          <p:nvPr/>
        </p:nvSpPr>
        <p:spPr>
          <a:xfrm>
            <a:off x="2825496" y="643737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HIGH  Near-term priority</a:t>
            </a:r>
            <a:endParaRPr lang="en-US" sz="800" dirty="0"/>
          </a:p>
        </p:txBody>
      </p:sp>
      <p:sp>
        <p:nvSpPr>
          <p:cNvPr id="207" name="Shape 205"/>
          <p:cNvSpPr/>
          <p:nvPr/>
        </p:nvSpPr>
        <p:spPr>
          <a:xfrm>
            <a:off x="4983480" y="6455664"/>
            <a:ext cx="118872" cy="118872"/>
          </a:xfrm>
          <a:prstGeom prst="ellipse">
            <a:avLst/>
          </a:prstGeom>
          <a:solidFill>
            <a:srgbClr val="70B8E8"/>
          </a:solidFill>
          <a:ln/>
        </p:spPr>
      </p:sp>
      <p:sp>
        <p:nvSpPr>
          <p:cNvPr id="208" name="Text 206"/>
          <p:cNvSpPr txBox="1"/>
          <p:nvPr/>
        </p:nvSpPr>
        <p:spPr>
          <a:xfrm>
            <a:off x="5157216" y="643737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MEDIUM  On roadmap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7315200" y="6455664"/>
            <a:ext cx="118872" cy="118872"/>
          </a:xfrm>
          <a:prstGeom prst="ellipse">
            <a:avLst/>
          </a:prstGeom>
          <a:solidFill>
            <a:srgbClr val="8888CC"/>
          </a:solidFill>
          <a:ln/>
        </p:spPr>
      </p:sp>
      <p:sp>
        <p:nvSpPr>
          <p:cNvPr id="210" name="Text 208"/>
          <p:cNvSpPr txBox="1"/>
          <p:nvPr/>
        </p:nvSpPr>
        <p:spPr>
          <a:xfrm>
            <a:off x="7488936" y="643737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MONITOR  Emerging / watch</a:t>
            </a:r>
            <a:endParaRPr lang="en-US" sz="800" dirty="0"/>
          </a:p>
        </p:txBody>
      </p:sp>
      <p:sp>
        <p:nvSpPr>
          <p:cNvPr id="211" name="Shape 209"/>
          <p:cNvSpPr/>
          <p:nvPr/>
        </p:nvSpPr>
        <p:spPr>
          <a:xfrm>
            <a:off x="9646920" y="6455664"/>
            <a:ext cx="118872" cy="11887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12" name="Text 210"/>
          <p:cNvSpPr txBox="1"/>
          <p:nvPr/>
        </p:nvSpPr>
        <p:spPr>
          <a:xfrm>
            <a:off x="9820656" y="643737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✓ Done  Already evaluated</a:t>
            </a:r>
            <a:endParaRPr lang="en-US" sz="800" dirty="0"/>
          </a:p>
        </p:txBody>
      </p:sp>
      <p:sp>
        <p:nvSpPr>
          <p:cNvPr id="213" name="Text 211"/>
          <p:cNvSpPr txBox="1"/>
          <p:nvPr/>
        </p:nvSpPr>
        <p:spPr>
          <a:xfrm>
            <a:off x="320040" y="6656832"/>
            <a:ext cx="1152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52"/>
                </a:solidFill>
              </a:rPr>
              <a:t>EXECUTIVE VIEW  ·  Full scores &amp; headroom at FoxBrain EvalHub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FoxBrain Benchmark Roadmap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8F"/>
                </a:solidFill>
              </a:rPr>
              <a:t>Priority reflects FoxBrain relevance — not benchmark popularity.  ✓ = already evaluated at HHRI-AI.  Full SOTA scores → FoxBrain EvalHub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607040" y="16459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BRAIN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901952" cy="27432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C8E8"/>
                </a:solidFill>
              </a:rPr>
              <a:t>CAPABILITY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04288" y="1005840"/>
            <a:ext cx="2103120" cy="274320"/>
          </a:xfrm>
          <a:prstGeom prst="rect">
            <a:avLst/>
          </a:prstGeom>
          <a:solidFill>
            <a:srgbClr val="3D0D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95728" y="10515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088"/>
                </a:solidFill>
              </a:rPr>
              <a:t>CRITICAL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62272" y="1005840"/>
            <a:ext cx="2432304" cy="274320"/>
          </a:xfrm>
          <a:prstGeom prst="rect">
            <a:avLst/>
          </a:prstGeom>
          <a:solidFill>
            <a:srgbClr val="2A1E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3712" y="1051560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060"/>
                </a:solidFill>
              </a:rPr>
              <a:t>HIGH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49440" y="1005840"/>
            <a:ext cx="2322576" cy="274320"/>
          </a:xfrm>
          <a:prstGeom prst="rect">
            <a:avLst/>
          </a:prstGeom>
          <a:solidFill>
            <a:srgbClr val="0A1E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40880" y="105156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0B8E8"/>
                </a:solidFill>
              </a:rPr>
              <a:t>MEDIUM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326880" y="1005840"/>
            <a:ext cx="2560320" cy="274320"/>
          </a:xfrm>
          <a:prstGeom prst="rect">
            <a:avLst/>
          </a:prstGeom>
          <a:solidFill>
            <a:srgbClr val="1012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0" y="10515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88CC"/>
                </a:solidFill>
              </a:rPr>
              <a:t>MONITOR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316736"/>
            <a:ext cx="11521440" cy="658368"/>
          </a:xfrm>
          <a:prstGeom prst="rect">
            <a:avLst/>
          </a:prstGeom>
          <a:solidFill>
            <a:srgbClr val="112030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1591056"/>
            <a:ext cx="109728" cy="109728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3504" y="149961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4A"/>
                </a:solidFill>
              </a:rPr>
              <a:t>Reasoning &amp; Math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395728" y="14081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HLE ✓ · FrontierMath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1408176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AIME 2025 · AIME 2026 · ARC-AGI-2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1389888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MATH-500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13898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CC"/>
                </a:solidFill>
              </a:rPr>
              <a:t>GPQA Diamond · MMLU-Pro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1975104"/>
            <a:ext cx="11521440" cy="658368"/>
          </a:xfrm>
          <a:prstGeom prst="rect">
            <a:avLst/>
          </a:prstGeom>
          <a:solidFill>
            <a:srgbClr val="0D1B28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" y="2249424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3504" y="21579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Coding &amp; SWE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395728" y="206654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088"/>
                </a:solidFill>
              </a:rPr>
              <a:t>SWE-Bench Pro · Terminal-Bench 4.0 · FrontierCode Diamond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2066544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LiveCodeBench v6 · DeepSWE v1.1 · SWE-Bench Multilingual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2048256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BigCodeBench · SciCode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20482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2633472"/>
            <a:ext cx="11521440" cy="658368"/>
          </a:xfrm>
          <a:prstGeom prst="rect">
            <a:avLst/>
          </a:prstGeom>
          <a:solidFill>
            <a:srgbClr val="112030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" y="2907792"/>
            <a:ext cx="109728" cy="109728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3504" y="281635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</a:rPr>
              <a:t>Long Context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395728" y="27249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MRCR v2 ✓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53712" y="2724912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GraphWalks BFS · NoLiMa · RULER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2706624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LongBench v2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0" y="270662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291840"/>
            <a:ext cx="11521440" cy="658368"/>
          </a:xfrm>
          <a:prstGeom prst="rect">
            <a:avLst/>
          </a:prstGeom>
          <a:solidFill>
            <a:srgbClr val="0D1B28"/>
          </a:solidFill>
          <a:ln/>
        </p:spPr>
      </p:sp>
      <p:sp>
        <p:nvSpPr>
          <p:cNvPr id="40" name="Shape 38"/>
          <p:cNvSpPr/>
          <p:nvPr/>
        </p:nvSpPr>
        <p:spPr>
          <a:xfrm>
            <a:off x="438912" y="356616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03504" y="347472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Multimodal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2395728" y="33832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088"/>
                </a:solidFill>
              </a:rPr>
              <a:t>—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53712" y="3383280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MathVista ✓ · MMMU-Pro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040880" y="3364992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CharXiv · CharXiv-R · DocVQA · MathVision · MMVU · Chartography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418320" y="336499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950208"/>
            <a:ext cx="11521440" cy="658368"/>
          </a:xfrm>
          <a:prstGeom prst="rect">
            <a:avLst/>
          </a:prstGeom>
          <a:solidFill>
            <a:srgbClr val="112030"/>
          </a:solidFill>
          <a:ln/>
        </p:spPr>
      </p:sp>
      <p:sp>
        <p:nvSpPr>
          <p:cNvPr id="47" name="Shape 45"/>
          <p:cNvSpPr/>
          <p:nvPr/>
        </p:nvSpPr>
        <p:spPr>
          <a:xfrm>
            <a:off x="438912" y="4224528"/>
            <a:ext cx="109728" cy="109728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03504" y="413308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AA6E"/>
                </a:solidFill>
              </a:rPr>
              <a:t>Agents &amp; Tools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2395728" y="40416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MCP Atlas · tau2-bench ✓ · Agents Last Exam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553712" y="4041648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BrowseComp · OSWorld 2.0 · BFCL v4 · Toolathlon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040880" y="4023360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APEX-Agents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418320" y="402336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608576"/>
            <a:ext cx="11521440" cy="658368"/>
          </a:xfrm>
          <a:prstGeom prst="rect">
            <a:avLst/>
          </a:prstGeom>
          <a:solidFill>
            <a:srgbClr val="0D1B28"/>
          </a:solidFill>
          <a:ln/>
        </p:spPr>
      </p:sp>
      <p:sp>
        <p:nvSpPr>
          <p:cNvPr id="54" name="Shape 52"/>
          <p:cNvSpPr/>
          <p:nvPr/>
        </p:nvSpPr>
        <p:spPr>
          <a:xfrm>
            <a:off x="438912" y="4882896"/>
            <a:ext cx="109728" cy="109728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03504" y="479145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</a:rPr>
              <a:t>Knowledge &amp; Lang.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2395728" y="470001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TMMLU+ ✓ · TW-LegalBench · AIEC ✓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553712" y="4700016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MMMLU · GDPval-AA · IFEval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7040880" y="4681728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SimpleQA · DRCD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418320" y="468172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5266944"/>
            <a:ext cx="11521440" cy="658368"/>
          </a:xfrm>
          <a:prstGeom prst="rect">
            <a:avLst/>
          </a:prstGeom>
          <a:solidFill>
            <a:srgbClr val="112030"/>
          </a:solidFill>
          <a:ln/>
        </p:spPr>
      </p:sp>
      <p:sp>
        <p:nvSpPr>
          <p:cNvPr id="61" name="Shape 59"/>
          <p:cNvSpPr/>
          <p:nvPr/>
        </p:nvSpPr>
        <p:spPr>
          <a:xfrm>
            <a:off x="438912" y="5541264"/>
            <a:ext cx="109728" cy="10972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03504" y="544982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</a:rPr>
              <a:t>Data &amp; ML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2395728" y="535838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088"/>
                </a:solidFill>
              </a:rPr>
              <a:t>—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4553712" y="5358384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MLE-Bench · DSBench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7040880" y="5340096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SpreadsheetBench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9418320" y="534009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95144" y="1005840"/>
            <a:ext cx="0" cy="491947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53128" y="1005840"/>
            <a:ext cx="0" cy="491947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40296" y="1005840"/>
            <a:ext cx="0" cy="491947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17736" y="1005840"/>
            <a:ext cx="0" cy="491947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" y="6071616"/>
            <a:ext cx="109728" cy="109728"/>
          </a:xfrm>
          <a:prstGeom prst="ellipse">
            <a:avLst/>
          </a:prstGeom>
          <a:solidFill>
            <a:srgbClr val="FF9088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2179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CRITICAL — evaluate now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88920" y="6071616"/>
            <a:ext cx="109728" cy="109728"/>
          </a:xfrm>
          <a:prstGeom prst="ellipse">
            <a:avLst/>
          </a:prstGeom>
          <a:solidFill>
            <a:srgbClr val="FFD06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295351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HIGH — near-term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120640" y="6071616"/>
            <a:ext cx="109728" cy="109728"/>
          </a:xfrm>
          <a:prstGeom prst="ellipse">
            <a:avLst/>
          </a:prstGeom>
          <a:solidFill>
            <a:srgbClr val="70B8E8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28523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MEDIUM — on roadmap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452360" y="6071616"/>
            <a:ext cx="109728" cy="109728"/>
          </a:xfrm>
          <a:prstGeom prst="ellipse">
            <a:avLst/>
          </a:prstGeom>
          <a:solidFill>
            <a:srgbClr val="8888CC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761695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MONITOR — emerging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784080" y="6071616"/>
            <a:ext cx="109728" cy="109728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994867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✓ Already evaluated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365760" y="6656832"/>
            <a:ext cx="1152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52"/>
                </a:solidFill>
              </a:rPr>
              <a:t>Recommended: use Slide 1 for strategic discussion · Slide 2 for benchmark-level detail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2026-09-30T03:15:41Z</dcterms:created>
  <dcterms:modified xsi:type="dcterms:W3CDTF">2026-09-30T03:15:41Z</dcterms:modified>
</cp:coreProperties>
</file>