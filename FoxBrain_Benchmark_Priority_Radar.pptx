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3611880"/>
            <a:ext cx="-1519177" cy="-407062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5120640" y="3611880"/>
            <a:ext cx="-242715" cy="-1553927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120640" y="3611880"/>
            <a:ext cx="1322683" cy="-850945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120640" y="3611880"/>
            <a:ext cx="1572746" cy="8403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0" y="3611880"/>
            <a:ext cx="628937" cy="1441540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120640" y="3611880"/>
            <a:ext cx="-822485" cy="1340566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120640" y="3611880"/>
            <a:ext cx="-1523440" cy="390806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730752" y="2221992"/>
            <a:ext cx="2779776" cy="2779776"/>
          </a:xfrm>
          <a:prstGeom prst="ellipse">
            <a:avLst/>
          </a:prstGeom>
          <a:solidFill>
            <a:srgbClr val="B8860B">
              <a:alpha val="22000"/>
            </a:srgbClr>
          </a:solidFill>
          <a:ln w="19050">
            <a:solidFill>
              <a:srgbClr val="B8860B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880360"/>
            <a:ext cx="1463040" cy="1463040"/>
          </a:xfrm>
          <a:prstGeom prst="ellipse">
            <a:avLst/>
          </a:prstGeom>
          <a:solidFill>
            <a:srgbClr val="CC3322">
              <a:alpha val="12000"/>
            </a:srgbClr>
          </a:solidFill>
          <a:ln w="19050">
            <a:solidFill>
              <a:srgbClr val="CC3322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7868" y="419742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9088"/>
                </a:solidFill>
              </a:rPr>
              <a:t>CRITICAL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886106" y="4794111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060"/>
                </a:solidFill>
              </a:rPr>
              <a:t>HIGH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619449" y="3310497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78885" y="3369933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6765" y="3285431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935027" y="3169308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12907" y="2992401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064179" y="3092679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56514" y="299263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328142" y="2735821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55381" y="258858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4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711117" y="2511424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88997" y="2334517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5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75079" y="3147433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02756" y="2962748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1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236173" y="3183478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1128" y="3011609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2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370137" y="3279936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02723" y="3142363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3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87703" y="2452603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015379" y="2267919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4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520866" y="2549524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05820" y="237765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5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881079" y="2808889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13665" y="2671317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6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5387717" y="3368896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47153" y="3428332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528194" y="3364594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1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046363" y="3042893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00805" y="2936263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B68EE"/>
                </a:solidFill>
              </a:rPr>
              <a:t>2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129965" y="3249708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95461" y="317042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B68EE"/>
                </a:solidFill>
              </a:rPr>
              <a:t>3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170382" y="3469089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41223" y="341881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B68EE"/>
                </a:solidFill>
              </a:rPr>
              <a:t>4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081478" y="3680260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40914" y="3739696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25458" y="374280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1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5678117" y="4481585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83865" y="456519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2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5176226" y="3955729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139866" y="4058439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1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4964067" y="3894352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3503" y="3953788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953913" y="4076879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2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4905075" y="3936866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772305" y="4032868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3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359674" y="4626023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323314" y="4728733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4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114882" y="4664258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046153" y="4772024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5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4867719" y="4647063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766307" y="475255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6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630579" y="4575301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497810" y="4671303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7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4738484" y="3807482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97920" y="3866918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648123" y="395912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1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36529" y="3803190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43832" y="3851663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2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608474" y="3631325"/>
            <a:ext cx="256032" cy="256032"/>
          </a:xfrm>
          <a:prstGeom prst="ellipse">
            <a:avLst/>
          </a:prstGeom>
          <a:solidFill>
            <a:srgbClr val="00E5A0">
              <a:alpha val="3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7910" y="3690761"/>
            <a:ext cx="137160" cy="13716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471888" y="372033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E5A0"/>
                </a:solidFill>
              </a:rPr>
              <a:t>3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384250" y="4429018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218909" y="4505677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4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4177379" y="4215862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984682" y="426433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5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4034669" y="3955352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823102" y="3969378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6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3977922" y="3750585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758850" y="3737534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A020"/>
                </a:solidFill>
              </a:rPr>
              <a:t>1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3980033" y="3355472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1241" y="3290174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A020"/>
                </a:solidFill>
              </a:rPr>
              <a:t>2</a:t>
            </a:r>
            <a:endParaRPr lang="en-US" sz="700" dirty="0"/>
          </a:p>
        </p:txBody>
      </p:sp>
      <p:sp>
        <p:nvSpPr>
          <p:cNvPr id="84" name="Text 82"/>
          <p:cNvSpPr txBox="1"/>
          <p:nvPr/>
        </p:nvSpPr>
        <p:spPr>
          <a:xfrm>
            <a:off x="3438475" y="2254847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5D4A"/>
                </a:solidFill>
              </a:rPr>
              <a:t>Reasoning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85D4A"/>
                </a:solidFill>
              </a:rPr>
              <a:t>&amp; Math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193061" y="198079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90D9"/>
                </a:solidFill>
              </a:rPr>
              <a:t>Coding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A90D9"/>
                </a:solidFill>
              </a:rPr>
              <a:t>&amp; SWE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6089090" y="3010813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8EE"/>
                </a:solidFill>
              </a:rPr>
              <a:t>Long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7B68EE"/>
                </a:solidFill>
              </a:rPr>
              <a:t>Context</a:t>
            </a:r>
            <a:endParaRPr lang="en-US" sz="800" dirty="0"/>
          </a:p>
        </p:txBody>
      </p:sp>
      <p:sp>
        <p:nvSpPr>
          <p:cNvPr id="87" name="Text 85"/>
          <p:cNvSpPr txBox="1"/>
          <p:nvPr/>
        </p:nvSpPr>
        <p:spPr>
          <a:xfrm>
            <a:off x="5885615" y="436078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A500"/>
                </a:solidFill>
              </a:rPr>
              <a:t>Multimodal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4413320" y="50892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AA6E"/>
                </a:solidFill>
              </a:rPr>
              <a:t>Agents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DAA6E"/>
                </a:solidFill>
              </a:rPr>
              <a:t>&amp; Tools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3216691" y="4432097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</a:rPr>
              <a:t>Knowledge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</a:rPr>
              <a:t>&amp; Language</a:t>
            </a:r>
            <a:endParaRPr lang="en-US" sz="800" dirty="0"/>
          </a:p>
        </p:txBody>
      </p:sp>
      <p:sp>
        <p:nvSpPr>
          <p:cNvPr id="90" name="Text 88"/>
          <p:cNvSpPr txBox="1"/>
          <p:nvPr/>
        </p:nvSpPr>
        <p:spPr>
          <a:xfrm>
            <a:off x="2898671" y="3456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A020"/>
                </a:solidFill>
              </a:rPr>
              <a:t>Data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8A020"/>
                </a:solidFill>
              </a:rPr>
              <a:t>&amp; ML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979408" y="1042416"/>
            <a:ext cx="1572768" cy="192024"/>
          </a:xfrm>
          <a:prstGeom prst="rect">
            <a:avLst/>
          </a:prstGeom>
          <a:solidFill>
            <a:srgbClr val="E85D4A">
              <a:alpha val="15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979408" y="1042416"/>
            <a:ext cx="54864" cy="192024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9070848" y="10698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5D4A"/>
                </a:solidFill>
              </a:rPr>
              <a:t>Reasoning &amp; Math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9043416" y="125272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1. HLE ✓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9043416" y="139720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FrontierMath</a:t>
            </a:r>
            <a:endParaRPr lang="en-US" sz="650" dirty="0"/>
          </a:p>
        </p:txBody>
      </p:sp>
      <p:sp>
        <p:nvSpPr>
          <p:cNvPr id="96" name="Text 94"/>
          <p:cNvSpPr txBox="1"/>
          <p:nvPr/>
        </p:nvSpPr>
        <p:spPr>
          <a:xfrm>
            <a:off x="9043416" y="154167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AIME 2025</a:t>
            </a:r>
            <a:endParaRPr lang="en-US" sz="650" dirty="0"/>
          </a:p>
        </p:txBody>
      </p:sp>
      <p:sp>
        <p:nvSpPr>
          <p:cNvPr id="97" name="Text 95"/>
          <p:cNvSpPr txBox="1"/>
          <p:nvPr/>
        </p:nvSpPr>
        <p:spPr>
          <a:xfrm>
            <a:off x="9043416" y="1686154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AIME 2026</a:t>
            </a:r>
            <a:endParaRPr lang="en-US" sz="650" dirty="0"/>
          </a:p>
        </p:txBody>
      </p:sp>
      <p:sp>
        <p:nvSpPr>
          <p:cNvPr id="98" name="Text 96"/>
          <p:cNvSpPr txBox="1"/>
          <p:nvPr/>
        </p:nvSpPr>
        <p:spPr>
          <a:xfrm>
            <a:off x="9043416" y="1830629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ARC-AGI-2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8979408" y="2057400"/>
            <a:ext cx="1572768" cy="192024"/>
          </a:xfrm>
          <a:prstGeom prst="rect">
            <a:avLst/>
          </a:prstGeom>
          <a:solidFill>
            <a:srgbClr val="4A90D9">
              <a:alpha val="1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8979408" y="2057400"/>
            <a:ext cx="54864" cy="19202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9070848" y="208483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D9"/>
                </a:solidFill>
              </a:rPr>
              <a:t>Coding &amp; SWE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9043416" y="226771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1. SWE-Bench Pro</a:t>
            </a:r>
            <a:endParaRPr lang="en-US" sz="650" dirty="0"/>
          </a:p>
        </p:txBody>
      </p:sp>
      <p:sp>
        <p:nvSpPr>
          <p:cNvPr id="103" name="Text 101"/>
          <p:cNvSpPr txBox="1"/>
          <p:nvPr/>
        </p:nvSpPr>
        <p:spPr>
          <a:xfrm>
            <a:off x="9043416" y="2412187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Terminal-Bench 4.0</a:t>
            </a:r>
            <a:endParaRPr lang="en-US" sz="650" dirty="0"/>
          </a:p>
        </p:txBody>
      </p:sp>
      <p:sp>
        <p:nvSpPr>
          <p:cNvPr id="104" name="Text 102"/>
          <p:cNvSpPr txBox="1"/>
          <p:nvPr/>
        </p:nvSpPr>
        <p:spPr>
          <a:xfrm>
            <a:off x="9043416" y="255666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FrontierCode Diamond</a:t>
            </a:r>
            <a:endParaRPr lang="en-US" sz="650" dirty="0"/>
          </a:p>
        </p:txBody>
      </p:sp>
      <p:sp>
        <p:nvSpPr>
          <p:cNvPr id="105" name="Text 103"/>
          <p:cNvSpPr txBox="1"/>
          <p:nvPr/>
        </p:nvSpPr>
        <p:spPr>
          <a:xfrm>
            <a:off x="9043416" y="270113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LiveCodeBench v6</a:t>
            </a:r>
            <a:endParaRPr lang="en-US" sz="650" dirty="0"/>
          </a:p>
        </p:txBody>
      </p:sp>
      <p:sp>
        <p:nvSpPr>
          <p:cNvPr id="106" name="Text 104"/>
          <p:cNvSpPr txBox="1"/>
          <p:nvPr/>
        </p:nvSpPr>
        <p:spPr>
          <a:xfrm>
            <a:off x="9043416" y="284561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DeepSWE v1.1</a:t>
            </a:r>
            <a:endParaRPr lang="en-US" sz="650" dirty="0"/>
          </a:p>
        </p:txBody>
      </p:sp>
      <p:sp>
        <p:nvSpPr>
          <p:cNvPr id="107" name="Text 105"/>
          <p:cNvSpPr txBox="1"/>
          <p:nvPr/>
        </p:nvSpPr>
        <p:spPr>
          <a:xfrm>
            <a:off x="9043416" y="299008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6. SWE-Bench Multilingual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8979408" y="3216859"/>
            <a:ext cx="1572768" cy="192024"/>
          </a:xfrm>
          <a:prstGeom prst="rect">
            <a:avLst/>
          </a:prstGeom>
          <a:solidFill>
            <a:srgbClr val="7B68EE">
              <a:alpha val="15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8979408" y="3216859"/>
            <a:ext cx="54864" cy="192024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070848" y="3244291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B68EE"/>
                </a:solidFill>
              </a:rPr>
              <a:t>Long Context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9043416" y="3427171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1. MRCR v2 ✓</a:t>
            </a:r>
            <a:endParaRPr lang="en-US" sz="650" dirty="0"/>
          </a:p>
        </p:txBody>
      </p:sp>
      <p:sp>
        <p:nvSpPr>
          <p:cNvPr id="112" name="Text 110"/>
          <p:cNvSpPr txBox="1"/>
          <p:nvPr/>
        </p:nvSpPr>
        <p:spPr>
          <a:xfrm>
            <a:off x="9043416" y="3571646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GraphWalks BFS</a:t>
            </a:r>
            <a:endParaRPr lang="en-US" sz="650" dirty="0"/>
          </a:p>
        </p:txBody>
      </p:sp>
      <p:sp>
        <p:nvSpPr>
          <p:cNvPr id="113" name="Text 111"/>
          <p:cNvSpPr txBox="1"/>
          <p:nvPr/>
        </p:nvSpPr>
        <p:spPr>
          <a:xfrm>
            <a:off x="9043416" y="371612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NoLiMa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9043416" y="3860597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RULER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8979408" y="4087368"/>
            <a:ext cx="1572768" cy="192024"/>
          </a:xfrm>
          <a:prstGeom prst="rect">
            <a:avLst/>
          </a:prstGeom>
          <a:solidFill>
            <a:srgbClr val="F0A500">
              <a:alpha val="15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8979408" y="4087368"/>
            <a:ext cx="54864" cy="19202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70848" y="4114800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0A500"/>
                </a:solidFill>
              </a:rPr>
              <a:t>Multimodal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9043416" y="4297680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1. MathVista ✓</a:t>
            </a:r>
            <a:endParaRPr lang="en-US" sz="650" dirty="0"/>
          </a:p>
        </p:txBody>
      </p:sp>
      <p:sp>
        <p:nvSpPr>
          <p:cNvPr id="119" name="Text 117"/>
          <p:cNvSpPr txBox="1"/>
          <p:nvPr/>
        </p:nvSpPr>
        <p:spPr>
          <a:xfrm>
            <a:off x="9043416" y="4442155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MMMU-Pro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10625328" y="1042416"/>
            <a:ext cx="1572768" cy="192024"/>
          </a:xfrm>
          <a:prstGeom prst="rect">
            <a:avLst/>
          </a:prstGeom>
          <a:solidFill>
            <a:srgbClr val="3DAA6E">
              <a:alpha val="15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10625328" y="1042416"/>
            <a:ext cx="54864" cy="192024"/>
          </a:xfrm>
          <a:prstGeom prst="rect">
            <a:avLst/>
          </a:prstGeom>
          <a:solidFill>
            <a:srgbClr val="3DAA6E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716768" y="10698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AA6E"/>
                </a:solidFill>
              </a:rPr>
              <a:t>Agents &amp; Tools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10689336" y="125272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1. MCP Atlas</a:t>
            </a:r>
            <a:endParaRPr lang="en-US" sz="650" dirty="0"/>
          </a:p>
        </p:txBody>
      </p:sp>
      <p:sp>
        <p:nvSpPr>
          <p:cNvPr id="124" name="Text 122"/>
          <p:cNvSpPr txBox="1"/>
          <p:nvPr/>
        </p:nvSpPr>
        <p:spPr>
          <a:xfrm>
            <a:off x="10689336" y="139720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2. tau2-bench ✓</a:t>
            </a:r>
            <a:endParaRPr lang="en-US" sz="650" dirty="0"/>
          </a:p>
        </p:txBody>
      </p:sp>
      <p:sp>
        <p:nvSpPr>
          <p:cNvPr id="125" name="Text 123"/>
          <p:cNvSpPr txBox="1"/>
          <p:nvPr/>
        </p:nvSpPr>
        <p:spPr>
          <a:xfrm>
            <a:off x="10689336" y="154167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Agents Last Exam</a:t>
            </a:r>
            <a:endParaRPr lang="en-US" sz="65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1686154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BrowseComp</a:t>
            </a:r>
            <a:endParaRPr lang="en-US" sz="650" dirty="0"/>
          </a:p>
        </p:txBody>
      </p:sp>
      <p:sp>
        <p:nvSpPr>
          <p:cNvPr id="127" name="Text 125"/>
          <p:cNvSpPr txBox="1"/>
          <p:nvPr/>
        </p:nvSpPr>
        <p:spPr>
          <a:xfrm>
            <a:off x="10689336" y="1830629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OSWorld 2.0</a:t>
            </a:r>
            <a:endParaRPr lang="en-US" sz="650" dirty="0"/>
          </a:p>
        </p:txBody>
      </p:sp>
      <p:sp>
        <p:nvSpPr>
          <p:cNvPr id="128" name="Text 126"/>
          <p:cNvSpPr txBox="1"/>
          <p:nvPr/>
        </p:nvSpPr>
        <p:spPr>
          <a:xfrm>
            <a:off x="10689336" y="1975104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6. BFCL v4</a:t>
            </a:r>
            <a:endParaRPr lang="en-US" sz="650" dirty="0"/>
          </a:p>
        </p:txBody>
      </p:sp>
      <p:sp>
        <p:nvSpPr>
          <p:cNvPr id="129" name="Text 127"/>
          <p:cNvSpPr txBox="1"/>
          <p:nvPr/>
        </p:nvSpPr>
        <p:spPr>
          <a:xfrm>
            <a:off x="10689336" y="2119579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7. Toolathlon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10625328" y="2346350"/>
            <a:ext cx="1572768" cy="192024"/>
          </a:xfrm>
          <a:prstGeom prst="rect">
            <a:avLst/>
          </a:prstGeom>
          <a:solidFill>
            <a:srgbClr val="9B59B6">
              <a:alpha val="1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625328" y="2346350"/>
            <a:ext cx="54864" cy="19202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10716768" y="237378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B59B6"/>
                </a:solidFill>
              </a:rPr>
              <a:t>Knowledge &amp; Language</a:t>
            </a:r>
            <a:endParaRPr lang="en-US" sz="750" dirty="0"/>
          </a:p>
        </p:txBody>
      </p:sp>
      <p:sp>
        <p:nvSpPr>
          <p:cNvPr id="133" name="Text 131"/>
          <p:cNvSpPr txBox="1"/>
          <p:nvPr/>
        </p:nvSpPr>
        <p:spPr>
          <a:xfrm>
            <a:off x="10689336" y="255666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1. TMMLU+ ✓</a:t>
            </a:r>
            <a:endParaRPr lang="en-US" sz="650" dirty="0"/>
          </a:p>
        </p:txBody>
      </p:sp>
      <p:sp>
        <p:nvSpPr>
          <p:cNvPr id="134" name="Text 132"/>
          <p:cNvSpPr txBox="1"/>
          <p:nvPr/>
        </p:nvSpPr>
        <p:spPr>
          <a:xfrm>
            <a:off x="10689336" y="270113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TW-LegalBench</a:t>
            </a:r>
            <a:endParaRPr lang="en-US" sz="650" dirty="0"/>
          </a:p>
        </p:txBody>
      </p:sp>
      <p:sp>
        <p:nvSpPr>
          <p:cNvPr id="135" name="Text 133"/>
          <p:cNvSpPr txBox="1"/>
          <p:nvPr/>
        </p:nvSpPr>
        <p:spPr>
          <a:xfrm>
            <a:off x="10689336" y="284561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0E5A0"/>
                </a:solidFill>
              </a:rPr>
              <a:t>3. AIEC ✓</a:t>
            </a:r>
            <a:endParaRPr lang="en-US" sz="65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299008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MMMLU</a:t>
            </a:r>
            <a:endParaRPr lang="en-US" sz="650" dirty="0"/>
          </a:p>
        </p:txBody>
      </p:sp>
      <p:sp>
        <p:nvSpPr>
          <p:cNvPr id="137" name="Text 135"/>
          <p:cNvSpPr txBox="1"/>
          <p:nvPr/>
        </p:nvSpPr>
        <p:spPr>
          <a:xfrm>
            <a:off x="10689336" y="313456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GDPval-AA</a:t>
            </a:r>
            <a:endParaRPr lang="en-US" sz="650" dirty="0"/>
          </a:p>
        </p:txBody>
      </p:sp>
      <p:sp>
        <p:nvSpPr>
          <p:cNvPr id="138" name="Text 136"/>
          <p:cNvSpPr txBox="1"/>
          <p:nvPr/>
        </p:nvSpPr>
        <p:spPr>
          <a:xfrm>
            <a:off x="10689336" y="327903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6. IFEval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10625328" y="3505810"/>
            <a:ext cx="1572768" cy="192024"/>
          </a:xfrm>
          <a:prstGeom prst="rect">
            <a:avLst/>
          </a:prstGeom>
          <a:solidFill>
            <a:srgbClr val="E8A020">
              <a:alpha val="15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10625328" y="3505810"/>
            <a:ext cx="54864" cy="192024"/>
          </a:xfrm>
          <a:prstGeom prst="rect">
            <a:avLst/>
          </a:prstGeom>
          <a:solidFill>
            <a:srgbClr val="E8A020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716768" y="353324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A020"/>
                </a:solidFill>
              </a:rPr>
              <a:t>Data &amp; ML</a:t>
            </a:r>
            <a:endParaRPr lang="en-US" sz="750" dirty="0"/>
          </a:p>
        </p:txBody>
      </p:sp>
      <p:sp>
        <p:nvSpPr>
          <p:cNvPr id="142" name="Text 140"/>
          <p:cNvSpPr txBox="1"/>
          <p:nvPr/>
        </p:nvSpPr>
        <p:spPr>
          <a:xfrm>
            <a:off x="10689336" y="371612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1. MLE-Bench</a:t>
            </a:r>
            <a:endParaRPr lang="en-US" sz="650" dirty="0"/>
          </a:p>
        </p:txBody>
      </p:sp>
      <p:sp>
        <p:nvSpPr>
          <p:cNvPr id="143" name="Text 141"/>
          <p:cNvSpPr txBox="1"/>
          <p:nvPr/>
        </p:nvSpPr>
        <p:spPr>
          <a:xfrm>
            <a:off x="10689336" y="3860597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2. DSBench</a:t>
            </a:r>
            <a:endParaRPr lang="en-US" sz="650" dirty="0"/>
          </a:p>
        </p:txBody>
      </p:sp>
      <p:sp>
        <p:nvSpPr>
          <p:cNvPr id="144" name="Text 142"/>
          <p:cNvSpPr txBox="1"/>
          <p:nvPr/>
        </p:nvSpPr>
        <p:spPr>
          <a:xfrm>
            <a:off x="8979408" y="74980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A4A64"/>
                </a:solidFill>
              </a:rPr>
              <a:t>BENCHMARKS BY DOMAIN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8979408" y="1005840"/>
            <a:ext cx="3108960" cy="0"/>
          </a:xfrm>
          <a:prstGeom prst="line">
            <a:avLst/>
          </a:prstGeom>
          <a:noFill/>
          <a:ln w="9525">
            <a:solidFill>
              <a:srgbClr val="1E3A52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320040" y="16459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FoxBrain Priority Radar — Act Now</a:t>
            </a:r>
            <a:endParaRPr lang="en-US" sz="2000" dirty="0"/>
          </a:p>
        </p:txBody>
      </p:sp>
      <p:sp>
        <p:nvSpPr>
          <p:cNvPr id="147" name="Text 145"/>
          <p:cNvSpPr txBox="1"/>
          <p:nvPr/>
        </p:nvSpPr>
        <p:spPr>
          <a:xfrm>
            <a:off x="320040" y="6035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AAF"/>
                </a:solidFill>
              </a:rPr>
              <a:t>CRITICAL &amp; HIGH benchmarks only · Closer to center = evaluate first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11503152" y="164592"/>
            <a:ext cx="548640" cy="658368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11484864" y="192024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11484864" y="457200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4B5FD"/>
                </a:solidFill>
              </a:rPr>
              <a:t>BRAIN</a:t>
            </a:r>
            <a:endParaRPr lang="en-US" sz="650" dirty="0"/>
          </a:p>
        </p:txBody>
      </p:sp>
      <p:sp>
        <p:nvSpPr>
          <p:cNvPr id="151" name="Shape 149"/>
          <p:cNvSpPr/>
          <p:nvPr/>
        </p:nvSpPr>
        <p:spPr>
          <a:xfrm>
            <a:off x="320040" y="6464808"/>
            <a:ext cx="118872" cy="118872"/>
          </a:xfrm>
          <a:prstGeom prst="ellipse">
            <a:avLst/>
          </a:prstGeom>
          <a:solidFill>
            <a:srgbClr val="FF9088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493776" y="64465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CRITICAL  Evaluate now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2651760" y="6464808"/>
            <a:ext cx="118872" cy="118872"/>
          </a:xfrm>
          <a:prstGeom prst="ellipse">
            <a:avLst/>
          </a:prstGeom>
          <a:solidFill>
            <a:srgbClr val="FFD060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2825496" y="64465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HIGH  Near-term priority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4983480" y="6464808"/>
            <a:ext cx="118872" cy="11887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5157216" y="64465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✓ Done  Already evaluated</a:t>
            </a:r>
            <a:endParaRPr lang="en-US" sz="800" dirty="0"/>
          </a:p>
        </p:txBody>
      </p:sp>
      <p:sp>
        <p:nvSpPr>
          <p:cNvPr id="157" name="Text 155"/>
          <p:cNvSpPr txBox="1"/>
          <p:nvPr/>
        </p:nvSpPr>
        <p:spPr>
          <a:xfrm>
            <a:off x="320040" y="6675120"/>
            <a:ext cx="1152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3A52"/>
                </a:solidFill>
              </a:rPr>
              <a:t>Full SOTA scores &amp; headroom at FoxBrain EvalHub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3611880"/>
            <a:ext cx="-2720387" cy="-728926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5120640" y="3611880"/>
            <a:ext cx="-434629" cy="-2782613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120640" y="3611880"/>
            <a:ext cx="2368526" cy="-1523785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120640" y="3611880"/>
            <a:ext cx="2816312" cy="15047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0" y="3611880"/>
            <a:ext cx="1126237" cy="2581362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120640" y="3611880"/>
            <a:ext cx="-1472823" cy="2400548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120640" y="3611880"/>
            <a:ext cx="-2728021" cy="699815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487168" y="978408"/>
            <a:ext cx="5266944" cy="5266944"/>
          </a:xfrm>
          <a:prstGeom prst="ellipse">
            <a:avLst/>
          </a:prstGeom>
          <a:solidFill>
            <a:srgbClr val="111A28">
              <a:alpha val="35000"/>
            </a:srgbClr>
          </a:solidFill>
          <a:ln w="19050">
            <a:solidFill>
              <a:srgbClr val="111A28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90672" y="1581912"/>
            <a:ext cx="4059936" cy="4059936"/>
          </a:xfrm>
          <a:prstGeom prst="ellipse">
            <a:avLst/>
          </a:prstGeom>
          <a:solidFill>
            <a:srgbClr val="1A3E5A">
              <a:alpha val="22000"/>
            </a:srgbClr>
          </a:solidFill>
          <a:ln w="19050">
            <a:solidFill>
              <a:srgbClr val="1A3E5A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56616" y="53742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0B8E8"/>
                </a:solidFill>
              </a:rPr>
              <a:t>MEDIUM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411667" y="5921181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A8A8E8"/>
                </a:solidFill>
              </a:rPr>
              <a:t>MONITOR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894242" y="2252890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21481" y="210565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6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911483" y="2557166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03818" y="2457120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301598" y="1308188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9478" y="113128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5D4A"/>
                </a:solidFill>
              </a:rPr>
              <a:t>8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099496" y="1803486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7172" y="161880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7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6358407" y="2368833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0993" y="2231260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90D9"/>
                </a:solidFill>
              </a:rPr>
              <a:t>8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53333" y="3068314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8830" y="298903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B68EE"/>
                </a:solidFill>
              </a:rPr>
              <a:t>5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795373" y="3870482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64373" y="3858047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3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722739" y="4144362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85686" y="4154750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4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606994" y="4402990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60295" y="4434931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6451151" y="4639631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91466" y="4691292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6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6259271" y="4848120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83596" y="4917155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7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036351" y="5023027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2099" y="5106638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A500"/>
                </a:solidFill>
              </a:rPr>
              <a:t>8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945761" y="5310260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60626" y="541780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AA6E"/>
                </a:solidFill>
              </a:rPr>
              <a:t>8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983274" y="4939615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17932" y="5016274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7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428566" y="4188013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6999" y="4202039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B59B6"/>
                </a:solidFill>
              </a:rPr>
              <a:t>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311982" y="3549465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090699" y="3510278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A020"/>
                </a:solidFill>
              </a:rPr>
              <a:t>3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2607343" y="1329795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5D4A"/>
                </a:solidFill>
              </a:rPr>
              <a:t>Reasoning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85D4A"/>
                </a:solidFill>
              </a:rPr>
              <a:t>&amp; Math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702511" y="846347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90D9"/>
                </a:solidFill>
              </a:rPr>
              <a:t>Coding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A90D9"/>
                </a:solidFill>
              </a:rPr>
              <a:t>&amp; SWE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7283148" y="266335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8EE"/>
                </a:solidFill>
              </a:rPr>
              <a:t>Long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7B68EE"/>
                </a:solidFill>
              </a:rPr>
              <a:t>Context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924209" y="5044759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A500"/>
                </a:solidFill>
              </a:rPr>
              <a:t>Multimodal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4327014" y="6329869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AA6E"/>
                </a:solidFill>
              </a:rPr>
              <a:t>Agents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DAA6E"/>
                </a:solidFill>
              </a:rPr>
              <a:t>&amp; Tools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2216106" y="517056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</a:rPr>
              <a:t>Knowledge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</a:rPr>
              <a:t>&amp; Language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1655105" y="34502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A020"/>
                </a:solidFill>
              </a:rPr>
              <a:t>Data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8A020"/>
                </a:solidFill>
              </a:rPr>
              <a:t>&amp; ML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8979408" y="1042416"/>
            <a:ext cx="1572768" cy="192024"/>
          </a:xfrm>
          <a:prstGeom prst="rect">
            <a:avLst/>
          </a:prstGeom>
          <a:solidFill>
            <a:srgbClr val="E85D4A">
              <a:alpha val="1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9408" y="1042416"/>
            <a:ext cx="54864" cy="192024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070848" y="10698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5D4A"/>
                </a:solidFill>
              </a:rPr>
              <a:t>Reasoning &amp; Math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9043416" y="125272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6. MATH-500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9043416" y="139720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7. GPQA Diamond</a:t>
            </a:r>
            <a:endParaRPr lang="en-US" sz="650" dirty="0"/>
          </a:p>
        </p:txBody>
      </p:sp>
      <p:sp>
        <p:nvSpPr>
          <p:cNvPr id="58" name="Text 56"/>
          <p:cNvSpPr txBox="1"/>
          <p:nvPr/>
        </p:nvSpPr>
        <p:spPr>
          <a:xfrm>
            <a:off x="9043416" y="154167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8. MMLU-Pro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8979408" y="1768450"/>
            <a:ext cx="1572768" cy="192024"/>
          </a:xfrm>
          <a:prstGeom prst="rect">
            <a:avLst/>
          </a:prstGeom>
          <a:solidFill>
            <a:srgbClr val="4A90D9">
              <a:alpha val="1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79408" y="1768450"/>
            <a:ext cx="54864" cy="19202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9070848" y="179588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D9"/>
                </a:solidFill>
              </a:rPr>
              <a:t>Coding &amp; SWE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9043416" y="1978762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7. BigCodeBench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9043416" y="2123237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8. SciCode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8979408" y="2350008"/>
            <a:ext cx="1572768" cy="192024"/>
          </a:xfrm>
          <a:prstGeom prst="rect">
            <a:avLst/>
          </a:prstGeom>
          <a:solidFill>
            <a:srgbClr val="7B68EE">
              <a:alpha val="1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979408" y="2350008"/>
            <a:ext cx="54864" cy="192024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070848" y="2377440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B68EE"/>
                </a:solidFill>
              </a:rPr>
              <a:t>Long Context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9043416" y="2560320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LongBench v2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8979408" y="2787091"/>
            <a:ext cx="1572768" cy="192024"/>
          </a:xfrm>
          <a:prstGeom prst="rect">
            <a:avLst/>
          </a:prstGeom>
          <a:solidFill>
            <a:srgbClr val="F0A500">
              <a:alpha val="1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979408" y="2787091"/>
            <a:ext cx="54864" cy="192024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070848" y="2814523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0A500"/>
                </a:solidFill>
              </a:rPr>
              <a:t>Multimodal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9043416" y="2997403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CharXiv</a:t>
            </a:r>
            <a:endParaRPr lang="en-US" sz="650" dirty="0"/>
          </a:p>
        </p:txBody>
      </p:sp>
      <p:sp>
        <p:nvSpPr>
          <p:cNvPr id="72" name="Text 70"/>
          <p:cNvSpPr txBox="1"/>
          <p:nvPr/>
        </p:nvSpPr>
        <p:spPr>
          <a:xfrm>
            <a:off x="9043416" y="314187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4. CharXiv-R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9043416" y="3286354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5. DocVQA</a:t>
            </a:r>
            <a:endParaRPr lang="en-US" sz="650" dirty="0"/>
          </a:p>
        </p:txBody>
      </p:sp>
      <p:sp>
        <p:nvSpPr>
          <p:cNvPr id="74" name="Text 72"/>
          <p:cNvSpPr txBox="1"/>
          <p:nvPr/>
        </p:nvSpPr>
        <p:spPr>
          <a:xfrm>
            <a:off x="9043416" y="3430829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6. MathVision</a:t>
            </a:r>
            <a:endParaRPr lang="en-US" sz="650" dirty="0"/>
          </a:p>
        </p:txBody>
      </p:sp>
      <p:sp>
        <p:nvSpPr>
          <p:cNvPr id="75" name="Text 73"/>
          <p:cNvSpPr txBox="1"/>
          <p:nvPr/>
        </p:nvSpPr>
        <p:spPr>
          <a:xfrm>
            <a:off x="9043416" y="3575304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7. MMVU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9043416" y="3719779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8. Chartography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10625328" y="1042416"/>
            <a:ext cx="1572768" cy="192024"/>
          </a:xfrm>
          <a:prstGeom prst="rect">
            <a:avLst/>
          </a:prstGeom>
          <a:solidFill>
            <a:srgbClr val="3DAA6E">
              <a:alpha val="15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10625328" y="1042416"/>
            <a:ext cx="54864" cy="192024"/>
          </a:xfrm>
          <a:prstGeom prst="rect">
            <a:avLst/>
          </a:prstGeom>
          <a:solidFill>
            <a:srgbClr val="3DAA6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716768" y="10698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AA6E"/>
                </a:solidFill>
              </a:rPr>
              <a:t>Agents &amp; Tools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10689336" y="1252728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8. APEX-Agents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10625328" y="1479499"/>
            <a:ext cx="1572768" cy="192024"/>
          </a:xfrm>
          <a:prstGeom prst="rect">
            <a:avLst/>
          </a:prstGeom>
          <a:solidFill>
            <a:srgbClr val="9B59B6">
              <a:alpha val="15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0625328" y="1479499"/>
            <a:ext cx="54864" cy="192024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716768" y="1506931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B59B6"/>
                </a:solidFill>
              </a:rPr>
              <a:t>Knowledge &amp; Language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689336" y="1689811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7. SimpleQA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689336" y="1834286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8. DRCD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10625328" y="2061058"/>
            <a:ext cx="1572768" cy="192024"/>
          </a:xfrm>
          <a:prstGeom prst="rect">
            <a:avLst/>
          </a:prstGeom>
          <a:solidFill>
            <a:srgbClr val="E8A020">
              <a:alpha val="15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625328" y="2061058"/>
            <a:ext cx="54864" cy="192024"/>
          </a:xfrm>
          <a:prstGeom prst="rect">
            <a:avLst/>
          </a:prstGeom>
          <a:solidFill>
            <a:srgbClr val="E8A02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16768" y="2088490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A020"/>
                </a:solidFill>
              </a:rPr>
              <a:t>Data &amp; ML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689336" y="2271370"/>
            <a:ext cx="1490472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B0C8"/>
                </a:solidFill>
              </a:rPr>
              <a:t>3. SpreadsheetBench</a:t>
            </a:r>
            <a:endParaRPr lang="en-US" sz="650" dirty="0"/>
          </a:p>
        </p:txBody>
      </p:sp>
      <p:sp>
        <p:nvSpPr>
          <p:cNvPr id="90" name="Text 88"/>
          <p:cNvSpPr txBox="1"/>
          <p:nvPr/>
        </p:nvSpPr>
        <p:spPr>
          <a:xfrm>
            <a:off x="8979408" y="74980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A4A64"/>
                </a:solidFill>
              </a:rPr>
              <a:t>BENCHMARKS BY DOMAIN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8979408" y="1005840"/>
            <a:ext cx="3108960" cy="0"/>
          </a:xfrm>
          <a:prstGeom prst="line">
            <a:avLst/>
          </a:prstGeom>
          <a:noFill/>
          <a:ln w="9525">
            <a:solidFill>
              <a:srgbClr val="1E3A52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20040" y="16459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FoxBrain Priority Radar — Roadmap</a:t>
            </a:r>
            <a:endParaRPr lang="en-US" sz="2000" dirty="0"/>
          </a:p>
        </p:txBody>
      </p:sp>
      <p:sp>
        <p:nvSpPr>
          <p:cNvPr id="93" name="Text 91"/>
          <p:cNvSpPr txBox="1"/>
          <p:nvPr/>
        </p:nvSpPr>
        <p:spPr>
          <a:xfrm>
            <a:off x="320040" y="6035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AAF"/>
                </a:solidFill>
              </a:rPr>
              <a:t>MEDIUM &amp; MONITOR benchmarks · On-deck and emerging evaluations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11503152" y="164592"/>
            <a:ext cx="548640" cy="658368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1484864" y="192024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</a:t>
            </a:r>
            <a:endParaRPr lang="en-US" sz="900" dirty="0"/>
          </a:p>
        </p:txBody>
      </p:sp>
      <p:sp>
        <p:nvSpPr>
          <p:cNvPr id="96" name="Text 94"/>
          <p:cNvSpPr txBox="1"/>
          <p:nvPr/>
        </p:nvSpPr>
        <p:spPr>
          <a:xfrm>
            <a:off x="11484864" y="457200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4B5FD"/>
                </a:solidFill>
              </a:rPr>
              <a:t>BRAIN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320040" y="6464808"/>
            <a:ext cx="118872" cy="118872"/>
          </a:xfrm>
          <a:prstGeom prst="ellipse">
            <a:avLst/>
          </a:prstGeom>
          <a:solidFill>
            <a:srgbClr val="70B8E8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93776" y="64465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MEDIUM  On roadmap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2651760" y="6464808"/>
            <a:ext cx="118872" cy="118872"/>
          </a:xfrm>
          <a:prstGeom prst="ellipse">
            <a:avLst/>
          </a:prstGeom>
          <a:solidFill>
            <a:srgbClr val="A8A8E8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825496" y="64465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MONITOR  Emerging / watch</a:t>
            </a:r>
            <a:endParaRPr lang="en-US" sz="800" dirty="0"/>
          </a:p>
        </p:txBody>
      </p:sp>
      <p:sp>
        <p:nvSpPr>
          <p:cNvPr id="101" name="Text 99"/>
          <p:cNvSpPr txBox="1"/>
          <p:nvPr/>
        </p:nvSpPr>
        <p:spPr>
          <a:xfrm>
            <a:off x="320040" y="6675120"/>
            <a:ext cx="1152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3A52"/>
                </a:solidFill>
              </a:rPr>
              <a:t>Full SOTA scores &amp; headroom at FoxBrain EvalHub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8288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FoxBrain Benchmark Roadmap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8F"/>
                </a:solidFill>
              </a:rPr>
              <a:t>Priority reflects FoxBrain relevance — not benchmark popularity.  ✓ = already evaluated at HHRI-AI.  Full SOTA scores → FoxBrain EvalHub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607040" y="164592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7C3A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070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60704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B5FD"/>
                </a:solidFill>
              </a:rPr>
              <a:t>BRAIN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1901952" cy="27432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051560"/>
            <a:ext cx="1764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0C8E8"/>
                </a:solidFill>
              </a:rPr>
              <a:t>CAPABILITY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4288" y="1005840"/>
            <a:ext cx="2103120" cy="274320"/>
          </a:xfrm>
          <a:prstGeom prst="rect">
            <a:avLst/>
          </a:prstGeom>
          <a:solidFill>
            <a:srgbClr val="3D0D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395728" y="105156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CRITICAL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62272" y="1005840"/>
            <a:ext cx="2432304" cy="274320"/>
          </a:xfrm>
          <a:prstGeom prst="rect">
            <a:avLst/>
          </a:prstGeom>
          <a:solidFill>
            <a:srgbClr val="2A1E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1051560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060"/>
                </a:solidFill>
              </a:rPr>
              <a:t>HIGH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49440" y="1005840"/>
            <a:ext cx="2322576" cy="274320"/>
          </a:xfrm>
          <a:prstGeom prst="rect">
            <a:avLst/>
          </a:prstGeom>
          <a:solidFill>
            <a:srgbClr val="0A1E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40880" y="1051560"/>
            <a:ext cx="2185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0B8E8"/>
                </a:solidFill>
              </a:rPr>
              <a:t>MEDIUM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326880" y="1005840"/>
            <a:ext cx="2560320" cy="274320"/>
          </a:xfrm>
          <a:prstGeom prst="rect">
            <a:avLst/>
          </a:prstGeom>
          <a:solidFill>
            <a:srgbClr val="1012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418320" y="105156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8A8E8"/>
                </a:solidFill>
              </a:rPr>
              <a:t>MONITOR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" y="1316736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19" name="Shape 17"/>
          <p:cNvSpPr/>
          <p:nvPr/>
        </p:nvSpPr>
        <p:spPr>
          <a:xfrm>
            <a:off x="438912" y="1591056"/>
            <a:ext cx="109728" cy="10972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1499616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4A"/>
                </a:solidFill>
              </a:rPr>
              <a:t>Reasoning &amp; Math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395728" y="140817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HLE ✓ · FrontierMath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53712" y="1408176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AIME 2025 · AIME 2026 · ARC-AGI-2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1389888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MATH-500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1389888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A8E8"/>
                </a:solidFill>
              </a:rPr>
              <a:t>GPQA Diamond · MMLU-Pro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1975104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26" name="Shape 24"/>
          <p:cNvSpPr/>
          <p:nvPr/>
        </p:nvSpPr>
        <p:spPr>
          <a:xfrm>
            <a:off x="438912" y="2249424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" y="2157984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</a:rPr>
              <a:t>Coding &amp; SWE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395728" y="206654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088"/>
                </a:solidFill>
              </a:rPr>
              <a:t>SWE-Bench Pro · Terminal-Bench 4.0 · FrontierCode Diamond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2066544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LiveCodeBench v6 · DeepSWE v1.1 · SWE-Bench Multilingual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048256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BigCodeBench · SciCode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418320" y="2048256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2633472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33" name="Shape 31"/>
          <p:cNvSpPr/>
          <p:nvPr/>
        </p:nvSpPr>
        <p:spPr>
          <a:xfrm>
            <a:off x="438912" y="2907792"/>
            <a:ext cx="109728" cy="109728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" y="2816352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8EE"/>
                </a:solidFill>
              </a:rPr>
              <a:t>Long Context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395728" y="272491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MRCR v2 ✓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53712" y="2724912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GraphWalks BFS · NoLiMa · RULER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2706624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LongBench v2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9418320" y="2706624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291840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40" name="Shape 38"/>
          <p:cNvSpPr/>
          <p:nvPr/>
        </p:nvSpPr>
        <p:spPr>
          <a:xfrm>
            <a:off x="438912" y="3566160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" y="3474720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A500"/>
                </a:solidFill>
              </a:rPr>
              <a:t>Multimodal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395728" y="338328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383280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MathVista ✓ · MMMU-Pro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3364992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CharXiv · CharXiv-R · DocVQA · MathVision · MMVU · Chartography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9418320" y="3364992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3950208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224528"/>
            <a:ext cx="109728" cy="109728"/>
          </a:xfrm>
          <a:prstGeom prst="ellipse">
            <a:avLst/>
          </a:prstGeom>
          <a:solidFill>
            <a:srgbClr val="3DAA6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03504" y="413308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AA6E"/>
                </a:solidFill>
              </a:rPr>
              <a:t>Agents &amp; Tools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395728" y="40416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MCP Atlas · tau2-bench ✓ · Agents Last Exam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4041648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BrowseComp · OSWorld 2.0 · BFCL v4 · Toolathlon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4023360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APEX-Agents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418320" y="402336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608576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54" name="Shape 52"/>
          <p:cNvSpPr/>
          <p:nvPr/>
        </p:nvSpPr>
        <p:spPr>
          <a:xfrm>
            <a:off x="438912" y="4882896"/>
            <a:ext cx="109728" cy="109728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" y="4791456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59B6"/>
                </a:solidFill>
              </a:rPr>
              <a:t>Knowledge &amp; Lang.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2395728" y="470001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TMMLU+ ✓ · TW-LegalBench · AIEC ✓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553712" y="4700016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MMMLU · GDPval-AA · IFEval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040880" y="4681728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SimpleQA · DRCD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9418320" y="4681728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65760" y="5266944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61" name="Shape 59"/>
          <p:cNvSpPr/>
          <p:nvPr/>
        </p:nvSpPr>
        <p:spPr>
          <a:xfrm>
            <a:off x="438912" y="5541264"/>
            <a:ext cx="109728" cy="109728"/>
          </a:xfrm>
          <a:prstGeom prst="ellipse">
            <a:avLst/>
          </a:prstGeom>
          <a:solidFill>
            <a:srgbClr val="E8A020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03504" y="5449824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020"/>
                </a:solidFill>
              </a:rPr>
              <a:t>Data &amp; ML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2395728" y="535838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53712" y="5358384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MLE-Bench · DSBench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040880" y="5340096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SpreadsheetBench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9418320" y="5340096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295144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53128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40296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317736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7200" y="6071616"/>
            <a:ext cx="109728" cy="109728"/>
          </a:xfrm>
          <a:prstGeom prst="ellipse">
            <a:avLst/>
          </a:prstGeom>
          <a:solidFill>
            <a:srgbClr val="FF908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2179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CRITICAL — evaluate now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788920" y="6071616"/>
            <a:ext cx="109728" cy="109728"/>
          </a:xfrm>
          <a:prstGeom prst="ellipse">
            <a:avLst/>
          </a:prstGeom>
          <a:solidFill>
            <a:srgbClr val="FFD06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95351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HIGH — near-term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5120640" y="6071616"/>
            <a:ext cx="109728" cy="109728"/>
          </a:xfrm>
          <a:prstGeom prst="ellipse">
            <a:avLst/>
          </a:prstGeom>
          <a:solidFill>
            <a:srgbClr val="70B8E8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28523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MEDIUM — on roadmap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452360" y="6071616"/>
            <a:ext cx="109728" cy="109728"/>
          </a:xfrm>
          <a:prstGeom prst="ellipse">
            <a:avLst/>
          </a:prstGeom>
          <a:solidFill>
            <a:srgbClr val="A8A8E8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761695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MONITOR — emerging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784080" y="6071616"/>
            <a:ext cx="109728" cy="109728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94867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✓ Already evaluated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365760" y="6656832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3A52"/>
                </a:solidFill>
              </a:rPr>
              <a:t>Recommended: Slide 1 for strategic discussion · Slide 2 for roadmap · Slide 3 for benchmark-level detail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2026-09-30T03:22:02Z</dcterms:created>
  <dcterms:modified xsi:type="dcterms:W3CDTF">2026-09-30T03:22:02Z</dcterms:modified>
</cp:coreProperties>
</file>