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  <p:sldMasterId id="2147483650" r:id="rId2"/>
  </p:sldMasterIdLst>
  <p:notesMasterIdLst>
    <p:notesMasterId r:id="rId6"/>
  </p:notesMasterIdLst>
  <p:sldIdLst>
    <p:sldId id="256" r:id="rId3"/>
    <p:sldId id="257" r:id="rId4"/>
    <p:sldId id="259" r:id="rId5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206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716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427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138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8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32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684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2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12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76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507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97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" name="Google Shape;17;p3"/>
          <p:cNvCxnSpPr/>
          <p:nvPr/>
        </p:nvCxnSpPr>
        <p:spPr>
          <a:xfrm rot="10800000">
            <a:off x="2600798" y="2841968"/>
            <a:ext cx="2702722" cy="724192"/>
          </a:xfrm>
          <a:prstGeom prst="straightConnector1">
            <a:avLst/>
          </a:prstGeom>
          <a:noFill/>
          <a:ln w="9525" cap="flat" cmpd="sng">
            <a:solidFill>
              <a:srgbClr val="1E3A5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 rot="10800000" flipH="1">
            <a:off x="5303520" y="768148"/>
            <a:ext cx="17036" cy="2798012"/>
          </a:xfrm>
          <a:prstGeom prst="straightConnector1">
            <a:avLst/>
          </a:prstGeom>
          <a:noFill/>
          <a:ln w="9525" cap="flat" cmpd="sng">
            <a:solidFill>
              <a:srgbClr val="1E3A5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9" name="Google Shape;19;p3"/>
          <p:cNvCxnSpPr/>
          <p:nvPr/>
        </p:nvCxnSpPr>
        <p:spPr>
          <a:xfrm rot="10800000" flipH="1">
            <a:off x="5303520" y="2301941"/>
            <a:ext cx="2496179" cy="1264219"/>
          </a:xfrm>
          <a:prstGeom prst="straightConnector1">
            <a:avLst/>
          </a:prstGeom>
          <a:noFill/>
          <a:ln w="9525" cap="flat" cmpd="sng">
            <a:solidFill>
              <a:srgbClr val="1E3A5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0" name="Google Shape;20;p3"/>
          <p:cNvCxnSpPr/>
          <p:nvPr/>
        </p:nvCxnSpPr>
        <p:spPr>
          <a:xfrm>
            <a:off x="5303520" y="3566160"/>
            <a:ext cx="2748375" cy="524974"/>
          </a:xfrm>
          <a:prstGeom prst="straightConnector1">
            <a:avLst/>
          </a:prstGeom>
          <a:noFill/>
          <a:ln w="9525" cap="flat" cmpd="sng">
            <a:solidFill>
              <a:srgbClr val="1E3A5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1" name="Google Shape;21;p3"/>
          <p:cNvCxnSpPr/>
          <p:nvPr/>
        </p:nvCxnSpPr>
        <p:spPr>
          <a:xfrm flipH="1">
            <a:off x="4288072" y="3566160"/>
            <a:ext cx="1015448" cy="2607303"/>
          </a:xfrm>
          <a:prstGeom prst="straightConnector1">
            <a:avLst/>
          </a:prstGeom>
          <a:noFill/>
          <a:ln w="9525" cap="flat" cmpd="sng">
            <a:solidFill>
              <a:srgbClr val="1E3A5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2" name="Google Shape;22;p3"/>
          <p:cNvCxnSpPr/>
          <p:nvPr/>
        </p:nvCxnSpPr>
        <p:spPr>
          <a:xfrm flipH="1">
            <a:off x="2807341" y="3566160"/>
            <a:ext cx="2496179" cy="1264219"/>
          </a:xfrm>
          <a:prstGeom prst="straightConnector1">
            <a:avLst/>
          </a:prstGeom>
          <a:noFill/>
          <a:ln w="9525" cap="flat" cmpd="sng">
            <a:solidFill>
              <a:srgbClr val="1E3A5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3" name="Google Shape;23;p3"/>
          <p:cNvSpPr/>
          <p:nvPr/>
        </p:nvSpPr>
        <p:spPr>
          <a:xfrm>
            <a:off x="2670048" y="932688"/>
            <a:ext cx="5266944" cy="5266944"/>
          </a:xfrm>
          <a:prstGeom prst="ellipse">
            <a:avLst/>
          </a:prstGeom>
          <a:solidFill>
            <a:srgbClr val="111A28">
              <a:alpha val="34902"/>
            </a:srgbClr>
          </a:solidFill>
          <a:ln w="19050" cap="flat" cmpd="sng">
            <a:solidFill>
              <a:srgbClr val="111A2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3273552" y="1536192"/>
            <a:ext cx="4059936" cy="4059936"/>
          </a:xfrm>
          <a:prstGeom prst="ellipse">
            <a:avLst/>
          </a:prstGeom>
          <a:solidFill>
            <a:srgbClr val="1A3E5A">
              <a:alpha val="21961"/>
            </a:srgbClr>
          </a:solidFill>
          <a:ln w="19050" cap="flat" cmpd="sng">
            <a:solidFill>
              <a:srgbClr val="1A3E5A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3913632" y="2176272"/>
            <a:ext cx="2779776" cy="2779776"/>
          </a:xfrm>
          <a:prstGeom prst="ellipse">
            <a:avLst/>
          </a:prstGeom>
          <a:solidFill>
            <a:srgbClr val="B8860B">
              <a:alpha val="21961"/>
            </a:srgbClr>
          </a:solidFill>
          <a:ln w="19050" cap="flat" cmpd="sng">
            <a:solidFill>
              <a:srgbClr val="B8860B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4572000" y="2834640"/>
            <a:ext cx="1463040" cy="1463040"/>
          </a:xfrm>
          <a:prstGeom prst="ellipse">
            <a:avLst/>
          </a:prstGeom>
          <a:solidFill>
            <a:srgbClr val="CC3322">
              <a:alpha val="12157"/>
            </a:srgbClr>
          </a:solidFill>
          <a:ln w="19050" cap="flat" cmpd="sng">
            <a:solidFill>
              <a:srgbClr val="CC3322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 txBox="1"/>
          <p:nvPr/>
        </p:nvSpPr>
        <p:spPr>
          <a:xfrm>
            <a:off x="4831188" y="4169138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9088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9088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5109427" y="4765822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D060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D060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5379936" y="5345931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B8E8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70B8E8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 txBox="1"/>
          <p:nvPr/>
        </p:nvSpPr>
        <p:spPr>
          <a:xfrm>
            <a:off x="5634988" y="5892892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8A8E8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A8A8E8"/>
                </a:solidFill>
                <a:latin typeface="Calibri"/>
                <a:ea typeface="Calibri"/>
                <a:cs typeface="Calibri"/>
                <a:sym typeface="Calibri"/>
              </a:rPr>
              <a:t>WATCH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958982" y="3145637"/>
            <a:ext cx="201168" cy="201168"/>
          </a:xfrm>
          <a:prstGeom prst="ellipse">
            <a:avLst/>
          </a:prstGeom>
          <a:solidFill>
            <a:srgbClr val="00E5A0">
              <a:alpha val="45098"/>
            </a:srgbClr>
          </a:solidFill>
          <a:ln w="12700" cap="flat" cmpd="sng">
            <a:solidFill>
              <a:srgbClr val="00E5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5006531" y="3193186"/>
            <a:ext cx="106070" cy="106070"/>
          </a:xfrm>
          <a:prstGeom prst="ellipse">
            <a:avLst/>
          </a:prstGeom>
          <a:solidFill>
            <a:srgbClr val="00E5A0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 txBox="1"/>
          <p:nvPr/>
        </p:nvSpPr>
        <p:spPr>
          <a:xfrm>
            <a:off x="4343229" y="2976524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MMLU-Pro ✓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4236986" y="3092597"/>
            <a:ext cx="106070" cy="106070"/>
          </a:xfrm>
          <a:prstGeom prst="ellipse">
            <a:avLst/>
          </a:prstGeom>
          <a:solidFill>
            <a:srgbClr val="E85D4A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/>
          <p:cNvSpPr txBox="1"/>
          <p:nvPr/>
        </p:nvSpPr>
        <p:spPr>
          <a:xfrm>
            <a:off x="3535191" y="2969320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06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D060"/>
                </a:solidFill>
                <a:latin typeface="Calibri"/>
                <a:ea typeface="Calibri"/>
                <a:cs typeface="Calibri"/>
                <a:sym typeface="Calibri"/>
              </a:rPr>
              <a:t>MATH-500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4585156" y="2640565"/>
            <a:ext cx="106070" cy="106070"/>
          </a:xfrm>
          <a:prstGeom prst="ellipse">
            <a:avLst/>
          </a:prstGeom>
          <a:solidFill>
            <a:srgbClr val="E85D4A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3"/>
          <p:cNvSpPr txBox="1"/>
          <p:nvPr/>
        </p:nvSpPr>
        <p:spPr>
          <a:xfrm>
            <a:off x="3938488" y="2445716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06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D060"/>
                </a:solidFill>
                <a:latin typeface="Calibri"/>
                <a:ea typeface="Calibri"/>
                <a:cs typeface="Calibri"/>
                <a:sym typeface="Calibri"/>
              </a:rPr>
              <a:t>GSM8K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5113224" y="2424464"/>
            <a:ext cx="106070" cy="106070"/>
          </a:xfrm>
          <a:prstGeom prst="ellipse">
            <a:avLst/>
          </a:prstGeom>
          <a:solidFill>
            <a:srgbClr val="E85D4A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3"/>
          <p:cNvSpPr txBox="1"/>
          <p:nvPr/>
        </p:nvSpPr>
        <p:spPr>
          <a:xfrm>
            <a:off x="4550167" y="2195400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06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D060"/>
                </a:solidFill>
                <a:latin typeface="Calibri"/>
                <a:ea typeface="Calibri"/>
                <a:cs typeface="Calibri"/>
                <a:sym typeface="Calibri"/>
              </a:rPr>
              <a:t>ARC-Challenge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3637333" y="2843784"/>
            <a:ext cx="106070" cy="106070"/>
          </a:xfrm>
          <a:prstGeom prst="ellipse">
            <a:avLst/>
          </a:prstGeom>
          <a:solidFill>
            <a:srgbClr val="E85D4A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"/>
          <p:cNvSpPr txBox="1"/>
          <p:nvPr/>
        </p:nvSpPr>
        <p:spPr>
          <a:xfrm>
            <a:off x="2952429" y="2727517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0B8E8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0B8E8"/>
                </a:solidFill>
                <a:latin typeface="Calibri"/>
                <a:ea typeface="Calibri"/>
                <a:cs typeface="Calibri"/>
                <a:sym typeface="Calibri"/>
              </a:rPr>
              <a:t>GPQA Diamond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5032012" y="1780339"/>
            <a:ext cx="106070" cy="106070"/>
          </a:xfrm>
          <a:prstGeom prst="ellipse">
            <a:avLst/>
          </a:prstGeom>
          <a:solidFill>
            <a:srgbClr val="E85D4A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3"/>
          <p:cNvSpPr txBox="1"/>
          <p:nvPr/>
        </p:nvSpPr>
        <p:spPr>
          <a:xfrm>
            <a:off x="4471242" y="1569419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0B8E8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0B8E8"/>
                </a:solidFill>
                <a:latin typeface="Calibri"/>
                <a:ea typeface="Calibri"/>
                <a:cs typeface="Calibri"/>
                <a:sym typeface="Calibri"/>
              </a:rPr>
              <a:t>AIME 2024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3015468" y="2557936"/>
            <a:ext cx="201168" cy="201168"/>
          </a:xfrm>
          <a:prstGeom prst="ellipse">
            <a:avLst/>
          </a:prstGeom>
          <a:solidFill>
            <a:srgbClr val="00E5A0">
              <a:alpha val="45098"/>
            </a:srgbClr>
          </a:solidFill>
          <a:ln w="12700" cap="flat" cmpd="sng">
            <a:solidFill>
              <a:srgbClr val="00E5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3063017" y="2605485"/>
            <a:ext cx="106070" cy="106070"/>
          </a:xfrm>
          <a:prstGeom prst="ellipse">
            <a:avLst/>
          </a:prstGeom>
          <a:solidFill>
            <a:srgbClr val="00E5A0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3"/>
          <p:cNvSpPr txBox="1"/>
          <p:nvPr/>
        </p:nvSpPr>
        <p:spPr>
          <a:xfrm>
            <a:off x="2378113" y="2489218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HLE ✓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954231" y="1163431"/>
            <a:ext cx="106070" cy="106070"/>
          </a:xfrm>
          <a:prstGeom prst="ellipse">
            <a:avLst/>
          </a:prstGeom>
          <a:solidFill>
            <a:srgbClr val="8888CC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"/>
          <p:cNvSpPr txBox="1"/>
          <p:nvPr/>
        </p:nvSpPr>
        <p:spPr>
          <a:xfrm>
            <a:off x="4393461" y="952512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CC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8888CC"/>
                </a:solidFill>
                <a:latin typeface="Calibri"/>
                <a:ea typeface="Calibri"/>
                <a:cs typeface="Calibri"/>
                <a:sym typeface="Calibri"/>
              </a:rPr>
              <a:t>TheoremQA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5462165" y="3170976"/>
            <a:ext cx="106070" cy="106070"/>
          </a:xfrm>
          <a:prstGeom prst="ellipse">
            <a:avLst/>
          </a:prstGeom>
          <a:solidFill>
            <a:srgbClr val="4A90D9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3"/>
          <p:cNvSpPr txBox="1"/>
          <p:nvPr/>
        </p:nvSpPr>
        <p:spPr>
          <a:xfrm>
            <a:off x="5026680" y="2943209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9088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9088"/>
                </a:solidFill>
                <a:latin typeface="Calibri"/>
                <a:ea typeface="Calibri"/>
                <a:cs typeface="Calibri"/>
                <a:sym typeface="Calibri"/>
              </a:rPr>
              <a:t>HumanEval+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377134" y="2423178"/>
            <a:ext cx="106070" cy="106070"/>
          </a:xfrm>
          <a:prstGeom prst="ellipse">
            <a:avLst/>
          </a:prstGeom>
          <a:solidFill>
            <a:srgbClr val="4A90D9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"/>
          <p:cNvSpPr txBox="1"/>
          <p:nvPr/>
        </p:nvSpPr>
        <p:spPr>
          <a:xfrm>
            <a:off x="4855862" y="2193911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06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D060"/>
                </a:solidFill>
                <a:latin typeface="Calibri"/>
                <a:ea typeface="Calibri"/>
                <a:cs typeface="Calibri"/>
                <a:sym typeface="Calibri"/>
              </a:rPr>
              <a:t>LiveCodeBench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169283" y="2913264"/>
            <a:ext cx="106070" cy="106070"/>
          </a:xfrm>
          <a:prstGeom prst="ellipse">
            <a:avLst/>
          </a:prstGeom>
          <a:solidFill>
            <a:srgbClr val="4A90D9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"/>
          <p:cNvSpPr txBox="1"/>
          <p:nvPr/>
        </p:nvSpPr>
        <p:spPr>
          <a:xfrm>
            <a:off x="5773435" y="2761593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06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D060"/>
                </a:solidFill>
                <a:latin typeface="Calibri"/>
                <a:ea typeface="Calibri"/>
                <a:cs typeface="Calibri"/>
                <a:sym typeface="Calibri"/>
              </a:rPr>
              <a:t>SWE-bench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452068" y="1778293"/>
            <a:ext cx="106070" cy="106070"/>
          </a:xfrm>
          <a:prstGeom prst="ellipse">
            <a:avLst/>
          </a:prstGeom>
          <a:solidFill>
            <a:srgbClr val="4A90D9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3"/>
          <p:cNvSpPr txBox="1"/>
          <p:nvPr/>
        </p:nvSpPr>
        <p:spPr>
          <a:xfrm>
            <a:off x="5086633" y="1567335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0B8E8"/>
              </a:buClr>
              <a:buSzPts val="850"/>
              <a:buFont typeface="Calibri"/>
              <a:buNone/>
            </a:pPr>
            <a:r>
              <a:rPr lang="en-US" sz="850" b="0" i="0" u="none" strike="noStrike" cap="none" dirty="0" err="1">
                <a:solidFill>
                  <a:srgbClr val="70B8E8"/>
                </a:solidFill>
                <a:latin typeface="Calibri"/>
                <a:ea typeface="Calibri"/>
                <a:cs typeface="Calibri"/>
                <a:sym typeface="Calibri"/>
              </a:rPr>
              <a:t>BigCodeBench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601334" y="3409420"/>
            <a:ext cx="201168" cy="201168"/>
          </a:xfrm>
          <a:prstGeom prst="ellipse">
            <a:avLst/>
          </a:prstGeom>
          <a:solidFill>
            <a:srgbClr val="00E5A0">
              <a:alpha val="45098"/>
            </a:srgbClr>
          </a:solidFill>
          <a:ln w="12700" cap="flat" cmpd="sng">
            <a:solidFill>
              <a:srgbClr val="00E5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5648883" y="3456969"/>
            <a:ext cx="106070" cy="106070"/>
          </a:xfrm>
          <a:prstGeom prst="ellipse">
            <a:avLst/>
          </a:prstGeom>
          <a:solidFill>
            <a:srgbClr val="00E5A0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"/>
          <p:cNvSpPr txBox="1"/>
          <p:nvPr/>
        </p:nvSpPr>
        <p:spPr>
          <a:xfrm>
            <a:off x="5544211" y="3401677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850"/>
              <a:buFont typeface="Calibri"/>
              <a:buNone/>
            </a:pPr>
            <a:r>
              <a:rPr lang="en-US" sz="850" b="1" i="0" u="none" strike="noStrike" cap="none" dirty="0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MRCR v2 ✓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337024" y="3359972"/>
            <a:ext cx="106070" cy="106070"/>
          </a:xfrm>
          <a:prstGeom prst="ellipse">
            <a:avLst/>
          </a:prstGeom>
          <a:solidFill>
            <a:srgbClr val="7B68EE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 txBox="1"/>
          <p:nvPr/>
        </p:nvSpPr>
        <p:spPr>
          <a:xfrm>
            <a:off x="5967735" y="3279030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06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D060"/>
                </a:solidFill>
                <a:latin typeface="Calibri"/>
                <a:ea typeface="Calibri"/>
                <a:cs typeface="Calibri"/>
                <a:sym typeface="Calibri"/>
              </a:rPr>
              <a:t>InfiniteBench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979893" y="3269356"/>
            <a:ext cx="106070" cy="106070"/>
          </a:xfrm>
          <a:prstGeom prst="ellipse">
            <a:avLst/>
          </a:prstGeom>
          <a:solidFill>
            <a:srgbClr val="7B68EE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"/>
          <p:cNvSpPr txBox="1"/>
          <p:nvPr/>
        </p:nvSpPr>
        <p:spPr>
          <a:xfrm>
            <a:off x="6602581" y="3083800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0B8E8"/>
              </a:buClr>
              <a:buSzPts val="850"/>
              <a:buFont typeface="Calibri"/>
              <a:buNone/>
            </a:pPr>
            <a:r>
              <a:rPr lang="en-US" sz="850" b="0" i="0" u="none" strike="noStrike" cap="none" dirty="0" err="1">
                <a:solidFill>
                  <a:srgbClr val="70B8E8"/>
                </a:solidFill>
                <a:latin typeface="Calibri"/>
                <a:ea typeface="Calibri"/>
                <a:cs typeface="Calibri"/>
                <a:sym typeface="Calibri"/>
              </a:rPr>
              <a:t>LongBench</a:t>
            </a:r>
            <a:r>
              <a:rPr lang="en-US" sz="850" b="0" i="0" u="none" strike="noStrike" cap="none" dirty="0">
                <a:solidFill>
                  <a:srgbClr val="70B8E8"/>
                </a:solidFill>
                <a:latin typeface="Calibri"/>
                <a:ea typeface="Calibri"/>
                <a:cs typeface="Calibri"/>
                <a:sym typeface="Calibri"/>
              </a:rPr>
              <a:t> v2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595599" y="3182570"/>
            <a:ext cx="106070" cy="106070"/>
          </a:xfrm>
          <a:prstGeom prst="ellipse">
            <a:avLst/>
          </a:prstGeom>
          <a:solidFill>
            <a:srgbClr val="8888CC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"/>
          <p:cNvSpPr txBox="1"/>
          <p:nvPr/>
        </p:nvSpPr>
        <p:spPr>
          <a:xfrm>
            <a:off x="7207976" y="3024415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CC"/>
              </a:buClr>
              <a:buSzPts val="850"/>
              <a:buFont typeface="Calibri"/>
              <a:buNone/>
            </a:pPr>
            <a:r>
              <a:rPr lang="en-US" sz="850" b="0" i="0" u="none" strike="noStrike" cap="none" dirty="0">
                <a:solidFill>
                  <a:srgbClr val="8888CC"/>
                </a:solidFill>
                <a:latin typeface="Calibri"/>
                <a:ea typeface="Calibri"/>
                <a:cs typeface="Calibri"/>
                <a:sym typeface="Calibri"/>
              </a:rPr>
              <a:t>HELMET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445255" y="3865174"/>
            <a:ext cx="106070" cy="106070"/>
          </a:xfrm>
          <a:prstGeom prst="ellipse">
            <a:avLst/>
          </a:prstGeom>
          <a:solidFill>
            <a:srgbClr val="F0A500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"/>
          <p:cNvSpPr txBox="1"/>
          <p:nvPr/>
        </p:nvSpPr>
        <p:spPr>
          <a:xfrm>
            <a:off x="5001316" y="3984506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9088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9088"/>
                </a:solidFill>
                <a:latin typeface="Calibri"/>
                <a:ea typeface="Calibri"/>
                <a:cs typeface="Calibri"/>
                <a:sym typeface="Calibri"/>
              </a:rPr>
              <a:t>MathVista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275839" y="3903859"/>
            <a:ext cx="106070" cy="106070"/>
          </a:xfrm>
          <a:prstGeom prst="ellipse">
            <a:avLst/>
          </a:prstGeom>
          <a:solidFill>
            <a:srgbClr val="F0A500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3"/>
          <p:cNvSpPr txBox="1"/>
          <p:nvPr/>
        </p:nvSpPr>
        <p:spPr>
          <a:xfrm>
            <a:off x="5896861" y="3909032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06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D060"/>
                </a:solidFill>
                <a:latin typeface="Calibri"/>
                <a:ea typeface="Calibri"/>
                <a:cs typeface="Calibri"/>
                <a:sym typeface="Calibri"/>
              </a:rPr>
              <a:t>MMBench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781677" y="4473259"/>
            <a:ext cx="106070" cy="106070"/>
          </a:xfrm>
          <a:prstGeom prst="ellipse">
            <a:avLst/>
          </a:prstGeom>
          <a:solidFill>
            <a:srgbClr val="F0A500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 txBox="1"/>
          <p:nvPr/>
        </p:nvSpPr>
        <p:spPr>
          <a:xfrm>
            <a:off x="5324458" y="4568587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06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D060"/>
                </a:solidFill>
                <a:latin typeface="Calibri"/>
                <a:ea typeface="Calibri"/>
                <a:cs typeface="Calibri"/>
                <a:sym typeface="Calibri"/>
              </a:rPr>
              <a:t>MathVision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036744" y="4589386"/>
            <a:ext cx="106070" cy="106070"/>
          </a:xfrm>
          <a:prstGeom prst="ellipse">
            <a:avLst/>
          </a:prstGeom>
          <a:solidFill>
            <a:srgbClr val="F0A500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"/>
          <p:cNvSpPr txBox="1"/>
          <p:nvPr/>
        </p:nvSpPr>
        <p:spPr>
          <a:xfrm>
            <a:off x="4461577" y="4703101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06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D060"/>
                </a:solidFill>
                <a:latin typeface="Calibri"/>
                <a:ea typeface="Calibri"/>
                <a:cs typeface="Calibri"/>
                <a:sym typeface="Calibri"/>
              </a:rPr>
              <a:t>MMMU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882506" y="4135043"/>
            <a:ext cx="106070" cy="106070"/>
          </a:xfrm>
          <a:prstGeom prst="ellipse">
            <a:avLst/>
          </a:prstGeom>
          <a:solidFill>
            <a:srgbClr val="F0A500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"/>
          <p:cNvSpPr txBox="1"/>
          <p:nvPr/>
        </p:nvSpPr>
        <p:spPr>
          <a:xfrm>
            <a:off x="6486850" y="4211718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0B8E8"/>
              </a:buClr>
              <a:buSzPts val="850"/>
              <a:buFont typeface="Calibri"/>
              <a:buNone/>
            </a:pPr>
            <a:r>
              <a:rPr lang="en-US" sz="850" b="0" i="0" u="none" strike="noStrike" cap="none" dirty="0" err="1">
                <a:solidFill>
                  <a:srgbClr val="70B8E8"/>
                </a:solidFill>
                <a:latin typeface="Calibri"/>
                <a:ea typeface="Calibri"/>
                <a:cs typeface="Calibri"/>
                <a:sym typeface="Calibri"/>
              </a:rPr>
              <a:t>CharXiv</a:t>
            </a:r>
            <a:r>
              <a:rPr lang="en-US" sz="850" b="0" i="0" u="none" strike="noStrike" cap="none" dirty="0">
                <a:solidFill>
                  <a:srgbClr val="70B8E8"/>
                </a:solidFill>
                <a:latin typeface="Calibri"/>
                <a:ea typeface="Calibri"/>
                <a:cs typeface="Calibri"/>
                <a:sym typeface="Calibri"/>
              </a:rPr>
              <a:t>-R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095966" y="5041338"/>
            <a:ext cx="106070" cy="106070"/>
          </a:xfrm>
          <a:prstGeom prst="ellipse">
            <a:avLst/>
          </a:prstGeom>
          <a:solidFill>
            <a:srgbClr val="F0A500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"/>
          <p:cNvSpPr txBox="1"/>
          <p:nvPr/>
        </p:nvSpPr>
        <p:spPr>
          <a:xfrm>
            <a:off x="5629894" y="5120665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0B8E8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0B8E8"/>
                </a:solidFill>
                <a:latin typeface="Calibri"/>
                <a:ea typeface="Calibri"/>
                <a:cs typeface="Calibri"/>
                <a:sym typeface="Calibri"/>
              </a:rPr>
              <a:t>DocVQA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910280" y="5226174"/>
            <a:ext cx="106070" cy="106070"/>
          </a:xfrm>
          <a:prstGeom prst="ellipse">
            <a:avLst/>
          </a:prstGeom>
          <a:solidFill>
            <a:srgbClr val="F0A500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3"/>
          <p:cNvSpPr txBox="1"/>
          <p:nvPr/>
        </p:nvSpPr>
        <p:spPr>
          <a:xfrm>
            <a:off x="4338675" y="5321951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0B8E8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0B8E8"/>
                </a:solidFill>
                <a:latin typeface="Calibri"/>
                <a:ea typeface="Calibri"/>
                <a:cs typeface="Calibri"/>
                <a:sym typeface="Calibri"/>
              </a:rPr>
              <a:t>MMVU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7463540" y="4356459"/>
            <a:ext cx="106070" cy="106070"/>
          </a:xfrm>
          <a:prstGeom prst="ellipse">
            <a:avLst/>
          </a:prstGeom>
          <a:solidFill>
            <a:srgbClr val="8888CC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3"/>
          <p:cNvSpPr txBox="1"/>
          <p:nvPr/>
        </p:nvSpPr>
        <p:spPr>
          <a:xfrm>
            <a:off x="7067474" y="4355120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CC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8888CC"/>
                </a:solidFill>
                <a:latin typeface="Calibri"/>
                <a:ea typeface="Calibri"/>
                <a:cs typeface="Calibri"/>
                <a:sym typeface="Calibri"/>
              </a:rPr>
              <a:t>CharXiv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396976" y="5585415"/>
            <a:ext cx="106070" cy="106070"/>
          </a:xfrm>
          <a:prstGeom prst="ellipse">
            <a:avLst/>
          </a:prstGeom>
          <a:solidFill>
            <a:srgbClr val="8888CC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3"/>
          <p:cNvSpPr txBox="1"/>
          <p:nvPr/>
        </p:nvSpPr>
        <p:spPr>
          <a:xfrm>
            <a:off x="5930903" y="5664741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CC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8888CC"/>
                </a:solidFill>
                <a:latin typeface="Calibri"/>
                <a:ea typeface="Calibri"/>
                <a:cs typeface="Calibri"/>
                <a:sym typeface="Calibri"/>
              </a:rPr>
              <a:t>Chartography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789160" y="5836055"/>
            <a:ext cx="106070" cy="106070"/>
          </a:xfrm>
          <a:prstGeom prst="ellipse">
            <a:avLst/>
          </a:prstGeom>
          <a:solidFill>
            <a:srgbClr val="8888CC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3"/>
          <p:cNvSpPr txBox="1"/>
          <p:nvPr/>
        </p:nvSpPr>
        <p:spPr>
          <a:xfrm>
            <a:off x="4217556" y="5931833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CC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8888CC"/>
                </a:solidFill>
                <a:latin typeface="Calibri"/>
                <a:ea typeface="Calibri"/>
                <a:cs typeface="Calibri"/>
                <a:sym typeface="Calibri"/>
              </a:rPr>
              <a:t>OCRBench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932630" y="3763584"/>
            <a:ext cx="201168" cy="201168"/>
          </a:xfrm>
          <a:prstGeom prst="ellipse">
            <a:avLst/>
          </a:prstGeom>
          <a:solidFill>
            <a:srgbClr val="00E5A0">
              <a:alpha val="45098"/>
            </a:srgbClr>
          </a:solidFill>
          <a:ln w="12700" cap="flat" cmpd="sng">
            <a:solidFill>
              <a:srgbClr val="00E5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4980179" y="3811133"/>
            <a:ext cx="106070" cy="106070"/>
          </a:xfrm>
          <a:prstGeom prst="ellipse">
            <a:avLst/>
          </a:prstGeom>
          <a:solidFill>
            <a:srgbClr val="00E5A0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"/>
          <p:cNvSpPr txBox="1"/>
          <p:nvPr/>
        </p:nvSpPr>
        <p:spPr>
          <a:xfrm>
            <a:off x="4303701" y="3903445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tau-bench ✓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513287" y="4325875"/>
            <a:ext cx="106070" cy="106070"/>
          </a:xfrm>
          <a:prstGeom prst="ellipse">
            <a:avLst/>
          </a:prstGeom>
          <a:solidFill>
            <a:srgbClr val="3DAA6E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"/>
          <p:cNvSpPr txBox="1"/>
          <p:nvPr/>
        </p:nvSpPr>
        <p:spPr>
          <a:xfrm>
            <a:off x="3855240" y="4397868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06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D060"/>
                </a:solidFill>
                <a:latin typeface="Calibri"/>
                <a:ea typeface="Calibri"/>
                <a:cs typeface="Calibri"/>
                <a:sym typeface="Calibri"/>
              </a:rPr>
              <a:t>BFCL v4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077112" y="4806753"/>
            <a:ext cx="106070" cy="106070"/>
          </a:xfrm>
          <a:prstGeom prst="ellipse">
            <a:avLst/>
          </a:prstGeom>
          <a:solidFill>
            <a:srgbClr val="3DAA6E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"/>
          <p:cNvSpPr txBox="1"/>
          <p:nvPr/>
        </p:nvSpPr>
        <p:spPr>
          <a:xfrm>
            <a:off x="3431351" y="4865199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0B8E8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0B8E8"/>
                </a:solidFill>
                <a:latin typeface="Calibri"/>
                <a:ea typeface="Calibri"/>
                <a:cs typeface="Calibri"/>
                <a:sym typeface="Calibri"/>
              </a:rPr>
              <a:t>AgentBench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3659367" y="5267311"/>
            <a:ext cx="106070" cy="106070"/>
          </a:xfrm>
          <a:prstGeom prst="ellipse">
            <a:avLst/>
          </a:prstGeom>
          <a:solidFill>
            <a:srgbClr val="8888CC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"/>
          <p:cNvSpPr txBox="1"/>
          <p:nvPr/>
        </p:nvSpPr>
        <p:spPr>
          <a:xfrm>
            <a:off x="3013606" y="5325758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CC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8888CC"/>
                </a:solidFill>
                <a:latin typeface="Calibri"/>
                <a:ea typeface="Calibri"/>
                <a:cs typeface="Calibri"/>
                <a:sym typeface="Calibri"/>
              </a:rPr>
              <a:t>WebArena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4802753" y="3507144"/>
            <a:ext cx="201168" cy="201168"/>
          </a:xfrm>
          <a:prstGeom prst="ellipse">
            <a:avLst/>
          </a:prstGeom>
          <a:solidFill>
            <a:srgbClr val="00E5A0">
              <a:alpha val="45098"/>
            </a:srgbClr>
          </a:solidFill>
          <a:ln w="12700" cap="flat" cmpd="sng">
            <a:solidFill>
              <a:srgbClr val="00E5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4850302" y="3554693"/>
            <a:ext cx="106070" cy="106070"/>
          </a:xfrm>
          <a:prstGeom prst="ellipse">
            <a:avLst/>
          </a:prstGeom>
          <a:solidFill>
            <a:srgbClr val="00E5A0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"/>
          <p:cNvSpPr txBox="1"/>
          <p:nvPr/>
        </p:nvSpPr>
        <p:spPr>
          <a:xfrm>
            <a:off x="4039602" y="3509210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850"/>
              <a:buFont typeface="Calibri"/>
              <a:buNone/>
            </a:pPr>
            <a:r>
              <a:rPr lang="en-US" sz="850" b="1" i="0" u="none" strike="noStrike" cap="none" dirty="0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TMMLU+ ✓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159077" y="3626493"/>
            <a:ext cx="106070" cy="106070"/>
          </a:xfrm>
          <a:prstGeom prst="ellipse">
            <a:avLst/>
          </a:prstGeom>
          <a:solidFill>
            <a:srgbClr val="9B59B6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3444946" y="3587750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06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D060"/>
                </a:solidFill>
                <a:latin typeface="Calibri"/>
                <a:ea typeface="Calibri"/>
                <a:cs typeface="Calibri"/>
                <a:sym typeface="Calibri"/>
              </a:rPr>
              <a:t>GPQA Ext.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3513327" y="3693569"/>
            <a:ext cx="106070" cy="106070"/>
          </a:xfrm>
          <a:prstGeom prst="ellipse">
            <a:avLst/>
          </a:prstGeom>
          <a:solidFill>
            <a:srgbClr val="9B59B6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2817386" y="3652937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0B8E8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0B8E8"/>
                </a:solidFill>
                <a:latin typeface="Calibri"/>
                <a:ea typeface="Calibri"/>
                <a:cs typeface="Calibri"/>
                <a:sym typeface="Calibri"/>
              </a:rPr>
              <a:t>SimpleQA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9189720" y="1143000"/>
            <a:ext cx="164592" cy="310896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9427464" y="113385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D4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85D4A"/>
                </a:solidFill>
                <a:latin typeface="Calibri"/>
                <a:ea typeface="Calibri"/>
                <a:cs typeface="Calibri"/>
                <a:sym typeface="Calibri"/>
              </a:rPr>
              <a:t>Reasoning &amp; Math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9427464" y="1426464"/>
            <a:ext cx="27432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A8CA8"/>
              </a:buClr>
              <a:buSzPts val="750"/>
              <a:buFont typeface="Calibri"/>
              <a:buNone/>
            </a:pPr>
            <a:r>
              <a:rPr lang="en-US" sz="750" b="0" i="0" u="none" strike="noStrike" cap="none" dirty="0">
                <a:solidFill>
                  <a:srgbClr val="6A8CA8"/>
                </a:solidFill>
                <a:latin typeface="Calibri"/>
                <a:ea typeface="Calibri"/>
                <a:cs typeface="Calibri"/>
                <a:sym typeface="Calibri"/>
              </a:rPr>
              <a:t>MMLU-Pro✓  ·  MATH-500  ·  GSM8K  ·  ARC-Challenge  ·  GPQA Diamond  ·  AIME 2024  ·  HLE✓  ·  </a:t>
            </a:r>
            <a:r>
              <a:rPr lang="en-US" sz="750" b="0" i="0" u="none" strike="noStrike" cap="none" dirty="0" err="1">
                <a:solidFill>
                  <a:srgbClr val="6A8CA8"/>
                </a:solidFill>
                <a:latin typeface="Calibri"/>
                <a:ea typeface="Calibri"/>
                <a:cs typeface="Calibri"/>
                <a:sym typeface="Calibri"/>
              </a:rPr>
              <a:t>TheoremQA</a:t>
            </a:r>
            <a:endParaRPr sz="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9189720" y="1947672"/>
            <a:ext cx="164592" cy="31089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9427464" y="193852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9427464" y="2231136"/>
            <a:ext cx="27432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A8CA8"/>
              </a:buClr>
              <a:buSzPts val="750"/>
              <a:buFont typeface="Calibri"/>
              <a:buNone/>
            </a:pPr>
            <a:r>
              <a:rPr lang="en-US" sz="750" b="0" i="0" u="none" strike="noStrike" cap="none" dirty="0" err="1">
                <a:solidFill>
                  <a:srgbClr val="6A8CA8"/>
                </a:solidFill>
                <a:latin typeface="Calibri"/>
                <a:ea typeface="Calibri"/>
                <a:cs typeface="Calibri"/>
                <a:sym typeface="Calibri"/>
              </a:rPr>
              <a:t>HumanEval</a:t>
            </a:r>
            <a:r>
              <a:rPr lang="en-US" sz="750" b="0" i="0" u="none" strike="noStrike" cap="none" dirty="0">
                <a:solidFill>
                  <a:srgbClr val="6A8CA8"/>
                </a:solidFill>
                <a:latin typeface="Calibri"/>
                <a:ea typeface="Calibri"/>
                <a:cs typeface="Calibri"/>
                <a:sym typeface="Calibri"/>
              </a:rPr>
              <a:t>+  ·  </a:t>
            </a:r>
            <a:r>
              <a:rPr lang="en-US" sz="750" b="0" i="0" u="none" strike="noStrike" cap="none" dirty="0" err="1">
                <a:solidFill>
                  <a:srgbClr val="6A8CA8"/>
                </a:solidFill>
                <a:latin typeface="Calibri"/>
                <a:ea typeface="Calibri"/>
                <a:cs typeface="Calibri"/>
                <a:sym typeface="Calibri"/>
              </a:rPr>
              <a:t>LiveCodeBench</a:t>
            </a:r>
            <a:r>
              <a:rPr lang="en-US" sz="750" b="0" i="0" u="none" strike="noStrike" cap="none" dirty="0">
                <a:solidFill>
                  <a:srgbClr val="6A8CA8"/>
                </a:solidFill>
                <a:latin typeface="Calibri"/>
                <a:ea typeface="Calibri"/>
                <a:cs typeface="Calibri"/>
                <a:sym typeface="Calibri"/>
              </a:rPr>
              <a:t>  ·  SWE-bench  ·  </a:t>
            </a:r>
            <a:r>
              <a:rPr lang="en-US" sz="750" b="0" i="0" u="none" strike="noStrike" cap="none" dirty="0" err="1">
                <a:solidFill>
                  <a:srgbClr val="6A8CA8"/>
                </a:solidFill>
                <a:latin typeface="Calibri"/>
                <a:ea typeface="Calibri"/>
                <a:cs typeface="Calibri"/>
                <a:sym typeface="Calibri"/>
              </a:rPr>
              <a:t>BigCodeBench</a:t>
            </a:r>
            <a:r>
              <a:rPr lang="en-US" sz="750" b="0" i="0" u="none" strike="noStrike" cap="none" dirty="0">
                <a:solidFill>
                  <a:srgbClr val="6A8CA8"/>
                </a:solidFill>
                <a:latin typeface="Calibri"/>
                <a:ea typeface="Calibri"/>
                <a:cs typeface="Calibri"/>
                <a:sym typeface="Calibri"/>
              </a:rPr>
              <a:t>  · </a:t>
            </a:r>
            <a:endParaRPr sz="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9189720" y="2752344"/>
            <a:ext cx="164592" cy="31089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9427464" y="27432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68E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B68EE"/>
                </a:solidFill>
                <a:latin typeface="Calibri"/>
                <a:ea typeface="Calibri"/>
                <a:cs typeface="Calibri"/>
                <a:sym typeface="Calibri"/>
              </a:rPr>
              <a:t>Long Context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9427464" y="3035808"/>
            <a:ext cx="27432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A8CA8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6A8CA8"/>
                </a:solidFill>
                <a:latin typeface="Calibri"/>
                <a:ea typeface="Calibri"/>
                <a:cs typeface="Calibri"/>
                <a:sym typeface="Calibri"/>
              </a:rPr>
              <a:t>MRCR v2✓  ·  InfiniteBench  ·  LongBench v2  ·  HELMET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9189720" y="3557016"/>
            <a:ext cx="164592" cy="31089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9427464" y="35478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Multimodal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9427464" y="3840480"/>
            <a:ext cx="27432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A8CA8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6A8CA8"/>
                </a:solidFill>
                <a:latin typeface="Calibri"/>
                <a:ea typeface="Calibri"/>
                <a:cs typeface="Calibri"/>
                <a:sym typeface="Calibri"/>
              </a:rPr>
              <a:t>MathVista  ·  MMBench  ·  MathVision  ·  MMMU  ·  CharXiv-R  ·  DocVQA  ·  MMVU  ·  CharXiv  ·  Chartography  ·  OCRBench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9189720" y="4361688"/>
            <a:ext cx="164592" cy="310896"/>
          </a:xfrm>
          <a:prstGeom prst="rect">
            <a:avLst/>
          </a:prstGeom>
          <a:solidFill>
            <a:srgbClr val="3DA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9427464" y="435254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AA6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3DAA6E"/>
                </a:solidFill>
                <a:latin typeface="Calibri"/>
                <a:ea typeface="Calibri"/>
                <a:cs typeface="Calibri"/>
                <a:sym typeface="Calibri"/>
              </a:rPr>
              <a:t>Tool Use &amp; Agents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9427464" y="4645152"/>
            <a:ext cx="27432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A8CA8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6A8CA8"/>
                </a:solidFill>
                <a:latin typeface="Calibri"/>
                <a:ea typeface="Calibri"/>
                <a:cs typeface="Calibri"/>
                <a:sym typeface="Calibri"/>
              </a:rPr>
              <a:t>tau-bench✓  ·  BFCL v4  ·  AgentBench  ·  WebArena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9189720" y="5166360"/>
            <a:ext cx="164592" cy="31089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9427464" y="515721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Knowledge &amp; Language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9427464" y="5449824"/>
            <a:ext cx="27432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A8CA8"/>
              </a:buClr>
              <a:buSzPts val="750"/>
              <a:buFont typeface="Calibri"/>
              <a:buNone/>
            </a:pPr>
            <a:r>
              <a:rPr lang="en-US" sz="750" b="0" i="0" u="none" strike="noStrike" cap="none" dirty="0">
                <a:solidFill>
                  <a:srgbClr val="6A8CA8"/>
                </a:solidFill>
                <a:latin typeface="Calibri"/>
                <a:ea typeface="Calibri"/>
                <a:cs typeface="Calibri"/>
                <a:sym typeface="Calibri"/>
              </a:rPr>
              <a:t>TMMLU+✓  ·  GPQA Ext.  ·  </a:t>
            </a:r>
            <a:r>
              <a:rPr lang="en-US" sz="750" b="0" i="0" u="none" strike="noStrike" cap="none" dirty="0" err="1">
                <a:solidFill>
                  <a:srgbClr val="6A8CA8"/>
                </a:solidFill>
                <a:latin typeface="Calibri"/>
                <a:ea typeface="Calibri"/>
                <a:cs typeface="Calibri"/>
                <a:sym typeface="Calibri"/>
              </a:rPr>
              <a:t>SimpleQA</a:t>
            </a:r>
            <a:r>
              <a:rPr lang="en-US" sz="750" b="0" i="0" u="none" strike="noStrike" cap="none" dirty="0">
                <a:solidFill>
                  <a:srgbClr val="6A8CA8"/>
                </a:solidFill>
                <a:latin typeface="Calibri"/>
                <a:ea typeface="Calibri"/>
                <a:cs typeface="Calibri"/>
                <a:sym typeface="Calibri"/>
              </a:rPr>
              <a:t>  ·</a:t>
            </a:r>
            <a:endParaRPr sz="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3465302" y="1175325"/>
            <a:ext cx="128016" cy="128016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2055676" y="1115065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85D4A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E85D4A"/>
                </a:solidFill>
                <a:latin typeface="Calibri"/>
                <a:ea typeface="Calibri"/>
                <a:cs typeface="Calibri"/>
                <a:sym typeface="Calibri"/>
              </a:rPr>
              <a:t>Reasoning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85D4A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E85D4A"/>
                </a:solidFill>
                <a:latin typeface="Calibri"/>
                <a:ea typeface="Calibri"/>
                <a:cs typeface="Calibri"/>
                <a:sym typeface="Calibri"/>
              </a:rPr>
              <a:t>&amp; Math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6779004" y="1013797"/>
            <a:ext cx="128016" cy="128016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6952740" y="913213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8136950" y="3093744"/>
            <a:ext cx="128016" cy="128016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8310686" y="299316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68E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B68EE"/>
                </a:solidFill>
                <a:latin typeface="Calibri"/>
                <a:ea typeface="Calibri"/>
                <a:cs typeface="Calibri"/>
                <a:sym typeface="Calibri"/>
              </a:rPr>
              <a:t>Long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68E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B68EE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6656026" y="6062510"/>
            <a:ext cx="128016" cy="128016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6829762" y="5961926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Multimodal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3273652" y="5669486"/>
            <a:ext cx="128016" cy="128016"/>
          </a:xfrm>
          <a:prstGeom prst="ellipse">
            <a:avLst/>
          </a:prstGeom>
          <a:solidFill>
            <a:srgbClr val="3DA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1873494" y="558911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DAA6E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3DAA6E"/>
                </a:solidFill>
                <a:latin typeface="Calibri"/>
                <a:ea typeface="Calibri"/>
                <a:cs typeface="Calibri"/>
                <a:sym typeface="Calibri"/>
              </a:rPr>
              <a:t>Tool Use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DAA6E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3DAA6E"/>
                </a:solidFill>
                <a:latin typeface="Calibri"/>
                <a:ea typeface="Calibri"/>
                <a:cs typeface="Calibri"/>
                <a:sym typeface="Calibri"/>
              </a:rPr>
              <a:t>&amp; Agents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2329091" y="3804467"/>
            <a:ext cx="128016" cy="128016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868200" y="3692554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Knowledge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&amp; Language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320040" y="164592"/>
            <a:ext cx="64008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F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E8F4FF"/>
                </a:solidFill>
                <a:latin typeface="Cambria"/>
                <a:ea typeface="Cambria"/>
                <a:cs typeface="Cambria"/>
                <a:sym typeface="Cambria"/>
              </a:rPr>
              <a:t>FoxBrain Benchmark Priority Radar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320040" y="62179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8AA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8AAF"/>
                </a:solidFill>
                <a:latin typeface="Calibri"/>
                <a:ea typeface="Calibri"/>
                <a:cs typeface="Calibri"/>
                <a:sym typeface="Calibri"/>
              </a:rPr>
              <a:t>Closer to center = higher strategic priority for FoxBrain evaluation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9189720" y="749808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4A64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2A4A64"/>
                </a:solidFill>
                <a:latin typeface="Calibri"/>
                <a:ea typeface="Calibri"/>
                <a:cs typeface="Calibri"/>
                <a:sym typeface="Calibri"/>
              </a:rPr>
              <a:t>DOMAINS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3"/>
          <p:cNvCxnSpPr/>
          <p:nvPr/>
        </p:nvCxnSpPr>
        <p:spPr>
          <a:xfrm>
            <a:off x="9189720" y="1024128"/>
            <a:ext cx="2743200" cy="0"/>
          </a:xfrm>
          <a:prstGeom prst="straightConnector1">
            <a:avLst/>
          </a:prstGeom>
          <a:noFill/>
          <a:ln w="9525" cap="flat" cmpd="sng">
            <a:solidFill>
              <a:srgbClr val="1E3A5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5" name="Google Shape;145;p3"/>
          <p:cNvSpPr/>
          <p:nvPr/>
        </p:nvSpPr>
        <p:spPr>
          <a:xfrm>
            <a:off x="320040" y="6455664"/>
            <a:ext cx="118872" cy="118872"/>
          </a:xfrm>
          <a:prstGeom prst="ellipse">
            <a:avLst/>
          </a:prstGeom>
          <a:solidFill>
            <a:srgbClr val="FF90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493776" y="6437376"/>
            <a:ext cx="210312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AB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A9AB5"/>
                </a:solidFill>
                <a:latin typeface="Calibri"/>
                <a:ea typeface="Calibri"/>
                <a:cs typeface="Calibri"/>
                <a:sym typeface="Calibri"/>
              </a:rPr>
              <a:t>CORE  Critical — evaluate now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2651760" y="6455664"/>
            <a:ext cx="118872" cy="118872"/>
          </a:xfrm>
          <a:prstGeom prst="ellipse">
            <a:avLst/>
          </a:prstGeom>
          <a:solidFill>
            <a:srgbClr val="FFD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2825496" y="6437376"/>
            <a:ext cx="210312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AB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A9AB5"/>
                </a:solidFill>
                <a:latin typeface="Calibri"/>
                <a:ea typeface="Calibri"/>
                <a:cs typeface="Calibri"/>
                <a:sym typeface="Calibri"/>
              </a:rPr>
              <a:t>HIGH  Important — near-term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4983480" y="6455664"/>
            <a:ext cx="118872" cy="118872"/>
          </a:xfrm>
          <a:prstGeom prst="ellipse">
            <a:avLst/>
          </a:prstGeom>
          <a:solidFill>
            <a:srgbClr val="70B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5157216" y="6437376"/>
            <a:ext cx="210312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AB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A9AB5"/>
                </a:solidFill>
                <a:latin typeface="Calibri"/>
                <a:ea typeface="Calibri"/>
                <a:cs typeface="Calibri"/>
                <a:sym typeface="Calibri"/>
              </a:rPr>
              <a:t>MEDIUM  On roadmap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7315200" y="6455664"/>
            <a:ext cx="118872" cy="118872"/>
          </a:xfrm>
          <a:prstGeom prst="ellipse">
            <a:avLst/>
          </a:prstGeom>
          <a:solidFill>
            <a:srgbClr val="8888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3"/>
          <p:cNvSpPr txBox="1"/>
          <p:nvPr/>
        </p:nvSpPr>
        <p:spPr>
          <a:xfrm>
            <a:off x="7488936" y="6437376"/>
            <a:ext cx="210312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AB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A9AB5"/>
                </a:solidFill>
                <a:latin typeface="Calibri"/>
                <a:ea typeface="Calibri"/>
                <a:cs typeface="Calibri"/>
                <a:sym typeface="Calibri"/>
              </a:rPr>
              <a:t>WATCH  Emerging / monitor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9646920" y="6455664"/>
            <a:ext cx="118872" cy="118872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9820656" y="6437376"/>
            <a:ext cx="210312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AB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A9AB5"/>
                </a:solidFill>
                <a:latin typeface="Calibri"/>
                <a:ea typeface="Calibri"/>
                <a:cs typeface="Calibri"/>
                <a:sym typeface="Calibri"/>
              </a:rPr>
              <a:t>✓ Done  Already evaluated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320040" y="6656832"/>
            <a:ext cx="115214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2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1E3A52"/>
                </a:solidFill>
                <a:latin typeface="Calibri"/>
                <a:ea typeface="Calibri"/>
                <a:cs typeface="Calibri"/>
                <a:sym typeface="Calibri"/>
              </a:rPr>
              <a:t>EXECUTIVE VIEW  ·  Full scores &amp; headroom at FoxBrain EvalHub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"/>
          <p:cNvSpPr txBox="1"/>
          <p:nvPr/>
        </p:nvSpPr>
        <p:spPr>
          <a:xfrm>
            <a:off x="457200" y="18288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E8F4FF"/>
                </a:solidFill>
                <a:latin typeface="Cambria"/>
                <a:ea typeface="Cambria"/>
                <a:cs typeface="Cambria"/>
                <a:sym typeface="Cambria"/>
              </a:rPr>
              <a:t>FoxBrain Benchmark Roadmap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457200" y="640080"/>
            <a:ext cx="11247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7A8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A7A8F"/>
                </a:solidFill>
                <a:latin typeface="Calibri"/>
                <a:ea typeface="Calibri"/>
                <a:cs typeface="Calibri"/>
                <a:sym typeface="Calibri"/>
              </a:rPr>
              <a:t>Priority reflects FoxBrain relevance — not benchmark popularity.  ✓ = already evaluated at HHRI-AI.  Full SOTA scores → FoxBrain EvalHub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365760" y="1005840"/>
            <a:ext cx="1901952" cy="27432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"/>
          <p:cNvSpPr txBox="1"/>
          <p:nvPr/>
        </p:nvSpPr>
        <p:spPr>
          <a:xfrm>
            <a:off x="457200" y="1051560"/>
            <a:ext cx="17647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C8E8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90C8E8"/>
                </a:solidFill>
                <a:latin typeface="Calibri"/>
                <a:ea typeface="Calibri"/>
                <a:cs typeface="Calibri"/>
                <a:sym typeface="Calibri"/>
              </a:rPr>
              <a:t>CAPABILITY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2304288" y="1005840"/>
            <a:ext cx="2103120" cy="274320"/>
          </a:xfrm>
          <a:prstGeom prst="rect">
            <a:avLst/>
          </a:prstGeom>
          <a:solidFill>
            <a:srgbClr val="3D0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2395728" y="1051560"/>
            <a:ext cx="1965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088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9088"/>
                </a:solidFill>
                <a:latin typeface="Calibri"/>
                <a:ea typeface="Calibri"/>
                <a:cs typeface="Calibri"/>
                <a:sym typeface="Calibri"/>
              </a:rPr>
              <a:t>CORE / CRITICAL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4462272" y="1005840"/>
            <a:ext cx="2432304" cy="274320"/>
          </a:xfrm>
          <a:prstGeom prst="rect">
            <a:avLst/>
          </a:prstGeom>
          <a:solidFill>
            <a:srgbClr val="2A1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4"/>
          <p:cNvSpPr txBox="1"/>
          <p:nvPr/>
        </p:nvSpPr>
        <p:spPr>
          <a:xfrm>
            <a:off x="4553712" y="1051560"/>
            <a:ext cx="229514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060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D060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6949440" y="1005840"/>
            <a:ext cx="2322576" cy="274320"/>
          </a:xfrm>
          <a:prstGeom prst="rect">
            <a:avLst/>
          </a:prstGeom>
          <a:solidFill>
            <a:srgbClr val="0A1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4"/>
          <p:cNvSpPr txBox="1"/>
          <p:nvPr/>
        </p:nvSpPr>
        <p:spPr>
          <a:xfrm>
            <a:off x="7040880" y="1051560"/>
            <a:ext cx="218541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B8E8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70B8E8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9326880" y="1005840"/>
            <a:ext cx="2560320" cy="274320"/>
          </a:xfrm>
          <a:prstGeom prst="rect">
            <a:avLst/>
          </a:prstGeom>
          <a:solidFill>
            <a:srgbClr val="1012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9418320" y="1051560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CC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8888CC"/>
                </a:solidFill>
                <a:latin typeface="Calibri"/>
                <a:ea typeface="Calibri"/>
                <a:cs typeface="Calibri"/>
                <a:sym typeface="Calibri"/>
              </a:rPr>
              <a:t>WATCH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365760" y="1316736"/>
            <a:ext cx="11521440" cy="768096"/>
          </a:xfrm>
          <a:prstGeom prst="rect">
            <a:avLst/>
          </a:prstGeom>
          <a:solidFill>
            <a:srgbClr val="112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438912" y="1645920"/>
            <a:ext cx="109728" cy="109728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"/>
          <p:cNvSpPr txBox="1"/>
          <p:nvPr/>
        </p:nvSpPr>
        <p:spPr>
          <a:xfrm>
            <a:off x="603504" y="1499616"/>
            <a:ext cx="160934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D4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85D4A"/>
                </a:solidFill>
                <a:latin typeface="Calibri"/>
                <a:ea typeface="Calibri"/>
                <a:cs typeface="Calibri"/>
                <a:sym typeface="Calibri"/>
              </a:rPr>
              <a:t>Reasoning &amp; Math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2395728" y="1408176"/>
            <a:ext cx="19659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MMLU-Pro 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4553712" y="1408176"/>
            <a:ext cx="2295144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06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D060"/>
                </a:solidFill>
                <a:latin typeface="Calibri"/>
                <a:ea typeface="Calibri"/>
                <a:cs typeface="Calibri"/>
                <a:sym typeface="Calibri"/>
              </a:rPr>
              <a:t>MATH-500 · GSM8K · ARC-Challenge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 txBox="1"/>
          <p:nvPr/>
        </p:nvSpPr>
        <p:spPr>
          <a:xfrm>
            <a:off x="7040880" y="1389888"/>
            <a:ext cx="2185416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B8E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0B8E8"/>
                </a:solidFill>
                <a:latin typeface="Calibri"/>
                <a:ea typeface="Calibri"/>
                <a:cs typeface="Calibri"/>
                <a:sym typeface="Calibri"/>
              </a:rPr>
              <a:t>GPQA Diamond · AIME 2024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 txBox="1"/>
          <p:nvPr/>
        </p:nvSpPr>
        <p:spPr>
          <a:xfrm>
            <a:off x="9418320" y="1389888"/>
            <a:ext cx="2423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HLE ✓ · TheoremQA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365760" y="2084832"/>
            <a:ext cx="11521440" cy="768096"/>
          </a:xfrm>
          <a:prstGeom prst="rect">
            <a:avLst/>
          </a:prstGeom>
          <a:solidFill>
            <a:srgbClr val="0D1B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438912" y="2414016"/>
            <a:ext cx="109728" cy="109728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"/>
          <p:cNvSpPr txBox="1"/>
          <p:nvPr/>
        </p:nvSpPr>
        <p:spPr>
          <a:xfrm>
            <a:off x="603504" y="2267712"/>
            <a:ext cx="160934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 txBox="1"/>
          <p:nvPr/>
        </p:nvSpPr>
        <p:spPr>
          <a:xfrm>
            <a:off x="2395728" y="2176272"/>
            <a:ext cx="19659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08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9088"/>
                </a:solidFill>
                <a:latin typeface="Calibri"/>
                <a:ea typeface="Calibri"/>
                <a:cs typeface="Calibri"/>
                <a:sym typeface="Calibri"/>
              </a:rPr>
              <a:t>HumanEval+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4553712" y="2176272"/>
            <a:ext cx="2295144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06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D060"/>
                </a:solidFill>
                <a:latin typeface="Calibri"/>
                <a:ea typeface="Calibri"/>
                <a:cs typeface="Calibri"/>
                <a:sym typeface="Calibri"/>
              </a:rPr>
              <a:t>LiveCodeBench · SWE-bench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 txBox="1"/>
          <p:nvPr/>
        </p:nvSpPr>
        <p:spPr>
          <a:xfrm>
            <a:off x="7040880" y="2157984"/>
            <a:ext cx="2185416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B8E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0B8E8"/>
                </a:solidFill>
                <a:latin typeface="Calibri"/>
                <a:ea typeface="Calibri"/>
                <a:cs typeface="Calibri"/>
                <a:sym typeface="Calibri"/>
              </a:rPr>
              <a:t>BigCodeBench · CRUXEval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9418320" y="2157984"/>
            <a:ext cx="2423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C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888CC"/>
                </a:solidFill>
                <a:latin typeface="Calibri"/>
                <a:ea typeface="Calibri"/>
                <a:cs typeface="Calibri"/>
                <a:sym typeface="Calibri"/>
              </a:rPr>
              <a:t>EvoEval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365760" y="2852928"/>
            <a:ext cx="11521440" cy="768096"/>
          </a:xfrm>
          <a:prstGeom prst="rect">
            <a:avLst/>
          </a:prstGeom>
          <a:solidFill>
            <a:srgbClr val="112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438912" y="3182112"/>
            <a:ext cx="109728" cy="109728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"/>
          <p:cNvSpPr txBox="1"/>
          <p:nvPr/>
        </p:nvSpPr>
        <p:spPr>
          <a:xfrm>
            <a:off x="603504" y="3035808"/>
            <a:ext cx="160934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68E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B68EE"/>
                </a:solidFill>
                <a:latin typeface="Calibri"/>
                <a:ea typeface="Calibri"/>
                <a:cs typeface="Calibri"/>
                <a:sym typeface="Calibri"/>
              </a:rPr>
              <a:t>Long Context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2395728" y="2944368"/>
            <a:ext cx="19659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MRCR v2 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4553712" y="2944368"/>
            <a:ext cx="2295144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06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D060"/>
                </a:solidFill>
                <a:latin typeface="Calibri"/>
                <a:ea typeface="Calibri"/>
                <a:cs typeface="Calibri"/>
                <a:sym typeface="Calibri"/>
              </a:rPr>
              <a:t>InfiniteBench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7040880" y="2926080"/>
            <a:ext cx="2185416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B8E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0B8E8"/>
                </a:solidFill>
                <a:latin typeface="Calibri"/>
                <a:ea typeface="Calibri"/>
                <a:cs typeface="Calibri"/>
                <a:sym typeface="Calibri"/>
              </a:rPr>
              <a:t>LongBench v2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 txBox="1"/>
          <p:nvPr/>
        </p:nvSpPr>
        <p:spPr>
          <a:xfrm>
            <a:off x="9418320" y="2926080"/>
            <a:ext cx="2423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C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888CC"/>
                </a:solidFill>
                <a:latin typeface="Calibri"/>
                <a:ea typeface="Calibri"/>
                <a:cs typeface="Calibri"/>
                <a:sym typeface="Calibri"/>
              </a:rPr>
              <a:t>HELMET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365760" y="3621024"/>
            <a:ext cx="11521440" cy="768096"/>
          </a:xfrm>
          <a:prstGeom prst="rect">
            <a:avLst/>
          </a:prstGeom>
          <a:solidFill>
            <a:srgbClr val="0D1B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4"/>
          <p:cNvSpPr/>
          <p:nvPr/>
        </p:nvSpPr>
        <p:spPr>
          <a:xfrm>
            <a:off x="438912" y="3950208"/>
            <a:ext cx="109728" cy="109728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4"/>
          <p:cNvSpPr txBox="1"/>
          <p:nvPr/>
        </p:nvSpPr>
        <p:spPr>
          <a:xfrm>
            <a:off x="603504" y="3803904"/>
            <a:ext cx="160934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Multimodal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 txBox="1"/>
          <p:nvPr/>
        </p:nvSpPr>
        <p:spPr>
          <a:xfrm>
            <a:off x="2395728" y="3712464"/>
            <a:ext cx="19659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08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9088"/>
                </a:solidFill>
                <a:latin typeface="Calibri"/>
                <a:ea typeface="Calibri"/>
                <a:cs typeface="Calibri"/>
                <a:sym typeface="Calibri"/>
              </a:rPr>
              <a:t>MathVista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 txBox="1"/>
          <p:nvPr/>
        </p:nvSpPr>
        <p:spPr>
          <a:xfrm>
            <a:off x="4553712" y="3712464"/>
            <a:ext cx="2295144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06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D060"/>
                </a:solidFill>
                <a:latin typeface="Calibri"/>
                <a:ea typeface="Calibri"/>
                <a:cs typeface="Calibri"/>
                <a:sym typeface="Calibri"/>
              </a:rPr>
              <a:t>MMBench · MathVision · MMMU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 txBox="1"/>
          <p:nvPr/>
        </p:nvSpPr>
        <p:spPr>
          <a:xfrm>
            <a:off x="7040880" y="3694176"/>
            <a:ext cx="2185416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B8E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0B8E8"/>
                </a:solidFill>
                <a:latin typeface="Calibri"/>
                <a:ea typeface="Calibri"/>
                <a:cs typeface="Calibri"/>
                <a:sym typeface="Calibri"/>
              </a:rPr>
              <a:t>CharXiv-R · DocVQA · MMVU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"/>
          <p:cNvSpPr txBox="1"/>
          <p:nvPr/>
        </p:nvSpPr>
        <p:spPr>
          <a:xfrm>
            <a:off x="9418320" y="3694176"/>
            <a:ext cx="2423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C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888CC"/>
                </a:solidFill>
                <a:latin typeface="Calibri"/>
                <a:ea typeface="Calibri"/>
                <a:cs typeface="Calibri"/>
                <a:sym typeface="Calibri"/>
              </a:rPr>
              <a:t>CharXiv · Chartography · OCRBench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365760" y="4389120"/>
            <a:ext cx="11521440" cy="768096"/>
          </a:xfrm>
          <a:prstGeom prst="rect">
            <a:avLst/>
          </a:prstGeom>
          <a:solidFill>
            <a:srgbClr val="112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"/>
          <p:cNvSpPr/>
          <p:nvPr/>
        </p:nvSpPr>
        <p:spPr>
          <a:xfrm>
            <a:off x="438912" y="4718304"/>
            <a:ext cx="109728" cy="109728"/>
          </a:xfrm>
          <a:prstGeom prst="ellipse">
            <a:avLst/>
          </a:prstGeom>
          <a:solidFill>
            <a:srgbClr val="3DA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"/>
          <p:cNvSpPr txBox="1"/>
          <p:nvPr/>
        </p:nvSpPr>
        <p:spPr>
          <a:xfrm>
            <a:off x="603504" y="4572000"/>
            <a:ext cx="160934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AA6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3DAA6E"/>
                </a:solidFill>
                <a:latin typeface="Calibri"/>
                <a:ea typeface="Calibri"/>
                <a:cs typeface="Calibri"/>
                <a:sym typeface="Calibri"/>
              </a:rPr>
              <a:t>Tool Use &amp; Agents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 txBox="1"/>
          <p:nvPr/>
        </p:nvSpPr>
        <p:spPr>
          <a:xfrm>
            <a:off x="2395728" y="4480560"/>
            <a:ext cx="19659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tau-bench 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 txBox="1"/>
          <p:nvPr/>
        </p:nvSpPr>
        <p:spPr>
          <a:xfrm>
            <a:off x="4553712" y="4480560"/>
            <a:ext cx="2295144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06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D060"/>
                </a:solidFill>
                <a:latin typeface="Calibri"/>
                <a:ea typeface="Calibri"/>
                <a:cs typeface="Calibri"/>
                <a:sym typeface="Calibri"/>
              </a:rPr>
              <a:t>BFCL v4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"/>
          <p:cNvSpPr txBox="1"/>
          <p:nvPr/>
        </p:nvSpPr>
        <p:spPr>
          <a:xfrm>
            <a:off x="7040880" y="4462272"/>
            <a:ext cx="2185416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B8E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0B8E8"/>
                </a:solidFill>
                <a:latin typeface="Calibri"/>
                <a:ea typeface="Calibri"/>
                <a:cs typeface="Calibri"/>
                <a:sym typeface="Calibri"/>
              </a:rPr>
              <a:t>AgentBench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 txBox="1"/>
          <p:nvPr/>
        </p:nvSpPr>
        <p:spPr>
          <a:xfrm>
            <a:off x="9418320" y="4462272"/>
            <a:ext cx="2423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C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888CC"/>
                </a:solidFill>
                <a:latin typeface="Calibri"/>
                <a:ea typeface="Calibri"/>
                <a:cs typeface="Calibri"/>
                <a:sym typeface="Calibri"/>
              </a:rPr>
              <a:t>WebArena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365760" y="5157216"/>
            <a:ext cx="11521440" cy="768096"/>
          </a:xfrm>
          <a:prstGeom prst="rect">
            <a:avLst/>
          </a:prstGeom>
          <a:solidFill>
            <a:srgbClr val="0D1B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4"/>
          <p:cNvSpPr/>
          <p:nvPr/>
        </p:nvSpPr>
        <p:spPr>
          <a:xfrm>
            <a:off x="438912" y="5486400"/>
            <a:ext cx="109728" cy="109728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"/>
          <p:cNvSpPr txBox="1"/>
          <p:nvPr/>
        </p:nvSpPr>
        <p:spPr>
          <a:xfrm>
            <a:off x="603504" y="5340096"/>
            <a:ext cx="160934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Knowledge &amp; Lang.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 txBox="1"/>
          <p:nvPr/>
        </p:nvSpPr>
        <p:spPr>
          <a:xfrm>
            <a:off x="2395728" y="5248656"/>
            <a:ext cx="19659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TMMLU+ 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4"/>
          <p:cNvSpPr txBox="1"/>
          <p:nvPr/>
        </p:nvSpPr>
        <p:spPr>
          <a:xfrm>
            <a:off x="4553712" y="5248656"/>
            <a:ext cx="2295144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06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D060"/>
                </a:solidFill>
                <a:latin typeface="Calibri"/>
                <a:ea typeface="Calibri"/>
                <a:cs typeface="Calibri"/>
                <a:sym typeface="Calibri"/>
              </a:rPr>
              <a:t>GPQA Ext.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4"/>
          <p:cNvSpPr txBox="1"/>
          <p:nvPr/>
        </p:nvSpPr>
        <p:spPr>
          <a:xfrm>
            <a:off x="7040880" y="5230368"/>
            <a:ext cx="2185416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B8E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0B8E8"/>
                </a:solidFill>
                <a:latin typeface="Calibri"/>
                <a:ea typeface="Calibri"/>
                <a:cs typeface="Calibri"/>
                <a:sym typeface="Calibri"/>
              </a:rPr>
              <a:t>SimpleQA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4"/>
          <p:cNvSpPr txBox="1"/>
          <p:nvPr/>
        </p:nvSpPr>
        <p:spPr>
          <a:xfrm>
            <a:off x="9418320" y="5230368"/>
            <a:ext cx="2423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C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888CC"/>
                </a:solidFill>
                <a:latin typeface="Calibri"/>
                <a:ea typeface="Calibri"/>
                <a:cs typeface="Calibri"/>
                <a:sym typeface="Calibri"/>
              </a:rPr>
              <a:t>MedQA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4"/>
          <p:cNvCxnSpPr/>
          <p:nvPr/>
        </p:nvCxnSpPr>
        <p:spPr>
          <a:xfrm>
            <a:off x="2295144" y="1005840"/>
            <a:ext cx="0" cy="4919472"/>
          </a:xfrm>
          <a:prstGeom prst="straightConnector1">
            <a:avLst/>
          </a:prstGeom>
          <a:noFill/>
          <a:ln w="9525" cap="flat" cmpd="sng">
            <a:solidFill>
              <a:srgbClr val="1A30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0" name="Google Shape;220;p4"/>
          <p:cNvCxnSpPr/>
          <p:nvPr/>
        </p:nvCxnSpPr>
        <p:spPr>
          <a:xfrm>
            <a:off x="4453128" y="1005840"/>
            <a:ext cx="0" cy="4919472"/>
          </a:xfrm>
          <a:prstGeom prst="straightConnector1">
            <a:avLst/>
          </a:prstGeom>
          <a:noFill/>
          <a:ln w="9525" cap="flat" cmpd="sng">
            <a:solidFill>
              <a:srgbClr val="1A30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1" name="Google Shape;221;p4"/>
          <p:cNvCxnSpPr/>
          <p:nvPr/>
        </p:nvCxnSpPr>
        <p:spPr>
          <a:xfrm>
            <a:off x="6940296" y="1005840"/>
            <a:ext cx="0" cy="4919472"/>
          </a:xfrm>
          <a:prstGeom prst="straightConnector1">
            <a:avLst/>
          </a:prstGeom>
          <a:noFill/>
          <a:ln w="9525" cap="flat" cmpd="sng">
            <a:solidFill>
              <a:srgbClr val="1A30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2" name="Google Shape;222;p4"/>
          <p:cNvCxnSpPr/>
          <p:nvPr/>
        </p:nvCxnSpPr>
        <p:spPr>
          <a:xfrm>
            <a:off x="9317736" y="1005840"/>
            <a:ext cx="0" cy="4919472"/>
          </a:xfrm>
          <a:prstGeom prst="straightConnector1">
            <a:avLst/>
          </a:prstGeom>
          <a:noFill/>
          <a:ln w="9525" cap="flat" cmpd="sng">
            <a:solidFill>
              <a:srgbClr val="1A30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3" name="Google Shape;223;p4"/>
          <p:cNvSpPr/>
          <p:nvPr/>
        </p:nvSpPr>
        <p:spPr>
          <a:xfrm>
            <a:off x="457200" y="6071616"/>
            <a:ext cx="109728" cy="109728"/>
          </a:xfrm>
          <a:prstGeom prst="ellipse">
            <a:avLst/>
          </a:prstGeom>
          <a:solidFill>
            <a:srgbClr val="FF90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4"/>
          <p:cNvSpPr txBox="1"/>
          <p:nvPr/>
        </p:nvSpPr>
        <p:spPr>
          <a:xfrm>
            <a:off x="621792" y="6053328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8AAF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5A8AAF"/>
                </a:solidFill>
                <a:latin typeface="Calibri"/>
                <a:ea typeface="Calibri"/>
                <a:cs typeface="Calibri"/>
                <a:sym typeface="Calibri"/>
              </a:rPr>
              <a:t>CORE — evaluate now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2788920" y="6071616"/>
            <a:ext cx="109728" cy="109728"/>
          </a:xfrm>
          <a:prstGeom prst="ellipse">
            <a:avLst/>
          </a:prstGeom>
          <a:solidFill>
            <a:srgbClr val="FFD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4"/>
          <p:cNvSpPr txBox="1"/>
          <p:nvPr/>
        </p:nvSpPr>
        <p:spPr>
          <a:xfrm>
            <a:off x="2953512" y="6053328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8AAF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5A8AAF"/>
                </a:solidFill>
                <a:latin typeface="Calibri"/>
                <a:ea typeface="Calibri"/>
                <a:cs typeface="Calibri"/>
                <a:sym typeface="Calibri"/>
              </a:rPr>
              <a:t>HIGH — near-term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5120640" y="6071616"/>
            <a:ext cx="109728" cy="109728"/>
          </a:xfrm>
          <a:prstGeom prst="ellipse">
            <a:avLst/>
          </a:prstGeom>
          <a:solidFill>
            <a:srgbClr val="70B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4"/>
          <p:cNvSpPr txBox="1"/>
          <p:nvPr/>
        </p:nvSpPr>
        <p:spPr>
          <a:xfrm>
            <a:off x="5285232" y="6053328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8AAF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5A8AAF"/>
                </a:solidFill>
                <a:latin typeface="Calibri"/>
                <a:ea typeface="Calibri"/>
                <a:cs typeface="Calibri"/>
                <a:sym typeface="Calibri"/>
              </a:rPr>
              <a:t>MEDIUM — on roadmap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7452360" y="6071616"/>
            <a:ext cx="109728" cy="109728"/>
          </a:xfrm>
          <a:prstGeom prst="ellipse">
            <a:avLst/>
          </a:prstGeom>
          <a:solidFill>
            <a:srgbClr val="8888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4"/>
          <p:cNvSpPr txBox="1"/>
          <p:nvPr/>
        </p:nvSpPr>
        <p:spPr>
          <a:xfrm>
            <a:off x="7616952" y="6053328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8AAF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5A8AAF"/>
                </a:solidFill>
                <a:latin typeface="Calibri"/>
                <a:ea typeface="Calibri"/>
                <a:cs typeface="Calibri"/>
                <a:sym typeface="Calibri"/>
              </a:rPr>
              <a:t>WATCH — emerging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4"/>
          <p:cNvSpPr/>
          <p:nvPr/>
        </p:nvSpPr>
        <p:spPr>
          <a:xfrm>
            <a:off x="9784080" y="6071616"/>
            <a:ext cx="109728" cy="109728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4"/>
          <p:cNvSpPr txBox="1"/>
          <p:nvPr/>
        </p:nvSpPr>
        <p:spPr>
          <a:xfrm>
            <a:off x="9948672" y="6053328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8AAF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5A8AAF"/>
                </a:solidFill>
                <a:latin typeface="Calibri"/>
                <a:ea typeface="Calibri"/>
                <a:cs typeface="Calibri"/>
                <a:sym typeface="Calibri"/>
              </a:rPr>
              <a:t>✓ Already evaluated at HHRI-AI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"/>
          <p:cNvSpPr txBox="1"/>
          <p:nvPr/>
        </p:nvSpPr>
        <p:spPr>
          <a:xfrm>
            <a:off x="365760" y="6656832"/>
            <a:ext cx="115214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2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1E3A52"/>
                </a:solidFill>
                <a:latin typeface="Calibri"/>
                <a:ea typeface="Calibri"/>
                <a:cs typeface="Calibri"/>
                <a:sym typeface="Calibri"/>
              </a:rPr>
              <a:t>Recommended: use Slide 1 for strategic discussion · Slide 2 for benchmark-level detail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 b="1">
                <a:solidFill>
                  <a:srgbClr val="F8FAFC"/>
                </a:solidFill>
                <a:latin typeface="Aptos"/>
              </a:defRPr>
            </a:pPr>
            <a:r>
              <a:rPr kumimoji="0" sz="25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FoxBrain Evaluation Coverage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A5B3CA"/>
                </a:solidFill>
                <a:latin typeface="Aptos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A5B3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Evaluated benchmarks remain visible when strategically useful; new benchmarks are prioritized by capability coverage, not novelty alone.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929384" cy="512064"/>
          </a:xfrm>
          <a:prstGeom prst="roundRect">
            <a:avLst/>
          </a:prstGeom>
          <a:solidFill>
            <a:srgbClr val="25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0" b="1">
                <a:solidFill>
                  <a:srgbClr val="F8FAFC"/>
                </a:solidFill>
                <a:latin typeface="Aptos"/>
              </a:defRPr>
            </a:pPr>
            <a:r>
              <a:rPr kumimoji="0" sz="108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CAPABILITY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96312" y="1298448"/>
            <a:ext cx="2176272" cy="512064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0" b="1">
                <a:solidFill>
                  <a:srgbClr val="F8FAFC"/>
                </a:solidFill>
                <a:latin typeface="Aptos"/>
              </a:defRPr>
            </a:pPr>
            <a:r>
              <a:rPr kumimoji="0" sz="108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36592" y="1298448"/>
            <a:ext cx="2907792" cy="5120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0" b="1">
                <a:solidFill>
                  <a:srgbClr val="F8FAFC"/>
                </a:solidFill>
                <a:latin typeface="Aptos"/>
              </a:defRPr>
            </a:pPr>
            <a:r>
              <a:rPr kumimoji="0" sz="108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HIGH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08392" y="1298448"/>
            <a:ext cx="3867911" cy="512064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0" b="1">
                <a:solidFill>
                  <a:srgbClr val="F8FAFC"/>
                </a:solidFill>
                <a:latin typeface="Aptos"/>
              </a:defRPr>
            </a:pPr>
            <a:r>
              <a:rPr kumimoji="0" sz="108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MEDIUM / WATCH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1929384" cy="585215"/>
          </a:xfrm>
          <a:prstGeom prst="roundRect">
            <a:avLst/>
          </a:prstGeom>
          <a:solidFill>
            <a:srgbClr val="1A2940"/>
          </a:solidFill>
          <a:ln>
            <a:solidFill>
              <a:srgbClr val="31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38BDF8"/>
                </a:solidFill>
                <a:latin typeface="Aptos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96312" y="1920240"/>
            <a:ext cx="2176272" cy="585215"/>
          </a:xfrm>
          <a:prstGeom prst="roundRect">
            <a:avLst/>
          </a:prstGeom>
          <a:solidFill>
            <a:srgbClr val="142136"/>
          </a:solidFill>
          <a:ln>
            <a:solidFill>
              <a:srgbClr val="31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0">
                <a:solidFill>
                  <a:srgbClr val="F8FAFC"/>
                </a:solidFill>
                <a:latin typeface="Aptos"/>
              </a:defRPr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SWE-Bench Pro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36592" y="1920240"/>
            <a:ext cx="2907792" cy="585215"/>
          </a:xfrm>
          <a:prstGeom prst="roundRect">
            <a:avLst/>
          </a:prstGeom>
          <a:solidFill>
            <a:srgbClr val="142136"/>
          </a:solidFill>
          <a:ln>
            <a:solidFill>
              <a:srgbClr val="31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0">
                <a:solidFill>
                  <a:srgbClr val="F8FAFC"/>
                </a:solidFill>
                <a:latin typeface="Aptos"/>
              </a:defRPr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Terminal-Bench 4.0 · LiveCodeBench Pro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08392" y="1920240"/>
            <a:ext cx="3867911" cy="585215"/>
          </a:xfrm>
          <a:prstGeom prst="roundRect">
            <a:avLst/>
          </a:prstGeom>
          <a:solidFill>
            <a:srgbClr val="142136"/>
          </a:solidFill>
          <a:ln>
            <a:solidFill>
              <a:srgbClr val="31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0">
                <a:solidFill>
                  <a:srgbClr val="F8FAFC"/>
                </a:solidFill>
                <a:latin typeface="Aptos"/>
              </a:defRPr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CursorBench 4.0 · DeepSWE · Terminal-Bench-Science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60320"/>
            <a:ext cx="1929384" cy="585215"/>
          </a:xfrm>
          <a:prstGeom prst="roundRect">
            <a:avLst/>
          </a:prstGeom>
          <a:solidFill>
            <a:srgbClr val="1A2940"/>
          </a:solidFill>
          <a:ln>
            <a:solidFill>
              <a:srgbClr val="31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A78BFA"/>
                </a:solidFill>
                <a:latin typeface="Aptos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A78B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Reasoning &amp; Math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96312" y="2560320"/>
            <a:ext cx="2176272" cy="585215"/>
          </a:xfrm>
          <a:prstGeom prst="roundRect">
            <a:avLst/>
          </a:prstGeom>
          <a:solidFill>
            <a:srgbClr val="142136"/>
          </a:solidFill>
          <a:ln>
            <a:solidFill>
              <a:srgbClr val="31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0">
                <a:solidFill>
                  <a:srgbClr val="F8FAFC"/>
                </a:solidFill>
                <a:latin typeface="Aptos"/>
              </a:defRPr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36592" y="2560320"/>
            <a:ext cx="2907792" cy="585215"/>
          </a:xfrm>
          <a:prstGeom prst="roundRect">
            <a:avLst/>
          </a:prstGeom>
          <a:solidFill>
            <a:srgbClr val="142136"/>
          </a:solidFill>
          <a:ln>
            <a:solidFill>
              <a:srgbClr val="31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0">
                <a:solidFill>
                  <a:srgbClr val="F8FAFC"/>
                </a:solidFill>
                <a:latin typeface="Aptos"/>
              </a:defRPr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GPQA Diamond ✓ · MMLU-Pro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8392" y="2560320"/>
            <a:ext cx="3867911" cy="585215"/>
          </a:xfrm>
          <a:prstGeom prst="roundRect">
            <a:avLst/>
          </a:prstGeom>
          <a:solidFill>
            <a:srgbClr val="142136"/>
          </a:solidFill>
          <a:ln>
            <a:solidFill>
              <a:srgbClr val="31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0">
                <a:solidFill>
                  <a:srgbClr val="F8FAFC"/>
                </a:solidFill>
                <a:latin typeface="Aptos"/>
              </a:defRPr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AIME · MATH-500 · FrontierMath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00400"/>
            <a:ext cx="1929384" cy="585215"/>
          </a:xfrm>
          <a:prstGeom prst="roundRect">
            <a:avLst/>
          </a:prstGeom>
          <a:solidFill>
            <a:srgbClr val="1A2940"/>
          </a:solidFill>
          <a:ln>
            <a:solidFill>
              <a:srgbClr val="31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FACC15"/>
                </a:solidFill>
                <a:latin typeface="Aptos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Knowledge &amp; Language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96312" y="3200400"/>
            <a:ext cx="2176272" cy="585215"/>
          </a:xfrm>
          <a:prstGeom prst="roundRect">
            <a:avLst/>
          </a:prstGeom>
          <a:solidFill>
            <a:srgbClr val="142136"/>
          </a:solidFill>
          <a:ln>
            <a:solidFill>
              <a:srgbClr val="31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0">
                <a:solidFill>
                  <a:srgbClr val="F8FAFC"/>
                </a:solidFill>
                <a:latin typeface="Aptos"/>
              </a:defRPr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TMMLU+ 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36592" y="3200400"/>
            <a:ext cx="2907792" cy="585215"/>
          </a:xfrm>
          <a:prstGeom prst="roundRect">
            <a:avLst/>
          </a:prstGeom>
          <a:solidFill>
            <a:srgbClr val="142136"/>
          </a:solidFill>
          <a:ln>
            <a:solidFill>
              <a:srgbClr val="31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0">
                <a:solidFill>
                  <a:srgbClr val="F8FAFC"/>
                </a:solidFill>
                <a:latin typeface="Aptos"/>
              </a:defRPr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GDPval-AA · SimpleQA · IFBench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08392" y="3200400"/>
            <a:ext cx="3867911" cy="585215"/>
          </a:xfrm>
          <a:prstGeom prst="roundRect">
            <a:avLst/>
          </a:prstGeom>
          <a:solidFill>
            <a:srgbClr val="142136"/>
          </a:solidFill>
          <a:ln>
            <a:solidFill>
              <a:srgbClr val="31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0">
                <a:solidFill>
                  <a:srgbClr val="F8FAFC"/>
                </a:solidFill>
                <a:latin typeface="Aptos"/>
              </a:defRPr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Multi-IF · DRCD · TTQA · AIEC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840479"/>
            <a:ext cx="1929384" cy="585215"/>
          </a:xfrm>
          <a:prstGeom prst="roundRect">
            <a:avLst/>
          </a:prstGeom>
          <a:solidFill>
            <a:srgbClr val="1A2940"/>
          </a:solidFill>
          <a:ln>
            <a:solidFill>
              <a:srgbClr val="31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4ADE80"/>
                </a:solidFill>
                <a:latin typeface="Aptos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Data &amp; 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96312" y="3840479"/>
            <a:ext cx="2176272" cy="585215"/>
          </a:xfrm>
          <a:prstGeom prst="roundRect">
            <a:avLst/>
          </a:prstGeom>
          <a:solidFill>
            <a:srgbClr val="142136"/>
          </a:solidFill>
          <a:ln>
            <a:solidFill>
              <a:srgbClr val="31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0">
                <a:solidFill>
                  <a:srgbClr val="F8FAFC"/>
                </a:solidFill>
                <a:latin typeface="Aptos"/>
              </a:defRPr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MLE-Bench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36592" y="3840479"/>
            <a:ext cx="2907792" cy="585215"/>
          </a:xfrm>
          <a:prstGeom prst="roundRect">
            <a:avLst/>
          </a:prstGeom>
          <a:solidFill>
            <a:srgbClr val="142136"/>
          </a:solidFill>
          <a:ln>
            <a:solidFill>
              <a:srgbClr val="31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0">
                <a:solidFill>
                  <a:srgbClr val="F8FAFC"/>
                </a:solidFill>
                <a:latin typeface="Aptos"/>
              </a:defRPr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DSBench · DS-Bench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08392" y="3840479"/>
            <a:ext cx="3867911" cy="585215"/>
          </a:xfrm>
          <a:prstGeom prst="roundRect">
            <a:avLst/>
          </a:prstGeom>
          <a:solidFill>
            <a:srgbClr val="142136"/>
          </a:solidFill>
          <a:ln>
            <a:solidFill>
              <a:srgbClr val="31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0">
                <a:solidFill>
                  <a:srgbClr val="F8FAFC"/>
                </a:solidFill>
                <a:latin typeface="Aptos"/>
              </a:defRPr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SpreadsheetBench V2 · emerging workflow evals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480560"/>
            <a:ext cx="1929384" cy="585215"/>
          </a:xfrm>
          <a:prstGeom prst="roundRect">
            <a:avLst/>
          </a:prstGeom>
          <a:solidFill>
            <a:srgbClr val="1A2940"/>
          </a:solidFill>
          <a:ln>
            <a:solidFill>
              <a:srgbClr val="31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F472B6"/>
                </a:solidFill>
                <a:latin typeface="Aptos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472B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Multimodal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96312" y="4480560"/>
            <a:ext cx="2176272" cy="585215"/>
          </a:xfrm>
          <a:prstGeom prst="roundRect">
            <a:avLst/>
          </a:prstGeom>
          <a:solidFill>
            <a:srgbClr val="142136"/>
          </a:solidFill>
          <a:ln>
            <a:solidFill>
              <a:srgbClr val="31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0">
                <a:solidFill>
                  <a:srgbClr val="F8FAFC"/>
                </a:solidFill>
                <a:latin typeface="Aptos"/>
              </a:defRPr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MMMU-Pro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36592" y="4480560"/>
            <a:ext cx="2907792" cy="585215"/>
          </a:xfrm>
          <a:prstGeom prst="roundRect">
            <a:avLst/>
          </a:prstGeom>
          <a:solidFill>
            <a:srgbClr val="142136"/>
          </a:solidFill>
          <a:ln>
            <a:solidFill>
              <a:srgbClr val="31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0">
                <a:solidFill>
                  <a:srgbClr val="F8FAFC"/>
                </a:solidFill>
                <a:latin typeface="Aptos"/>
              </a:defRPr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CharXiv · MathVista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08392" y="4480560"/>
            <a:ext cx="3867911" cy="585215"/>
          </a:xfrm>
          <a:prstGeom prst="roundRect">
            <a:avLst/>
          </a:prstGeom>
          <a:solidFill>
            <a:srgbClr val="142136"/>
          </a:solidFill>
          <a:ln>
            <a:solidFill>
              <a:srgbClr val="31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0">
                <a:solidFill>
                  <a:srgbClr val="F8FAFC"/>
                </a:solidFill>
                <a:latin typeface="Aptos"/>
              </a:defRPr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DocVQA · MathVision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120640"/>
            <a:ext cx="1929384" cy="585215"/>
          </a:xfrm>
          <a:prstGeom prst="roundRect">
            <a:avLst/>
          </a:prstGeom>
          <a:solidFill>
            <a:srgbClr val="1A2940"/>
          </a:solidFill>
          <a:ln>
            <a:solidFill>
              <a:srgbClr val="31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818CF8"/>
                </a:solidFill>
                <a:latin typeface="Aptos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818CF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Long Context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96312" y="5120640"/>
            <a:ext cx="2176272" cy="585215"/>
          </a:xfrm>
          <a:prstGeom prst="roundRect">
            <a:avLst/>
          </a:prstGeom>
          <a:solidFill>
            <a:srgbClr val="142136"/>
          </a:solidFill>
          <a:ln>
            <a:solidFill>
              <a:srgbClr val="31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0">
                <a:solidFill>
                  <a:srgbClr val="F8FAFC"/>
                </a:solidFill>
                <a:latin typeface="Aptos"/>
              </a:defRPr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MRCR v2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36592" y="5120640"/>
            <a:ext cx="2907792" cy="585215"/>
          </a:xfrm>
          <a:prstGeom prst="roundRect">
            <a:avLst/>
          </a:prstGeom>
          <a:solidFill>
            <a:srgbClr val="142136"/>
          </a:solidFill>
          <a:ln>
            <a:solidFill>
              <a:srgbClr val="31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0">
                <a:solidFill>
                  <a:srgbClr val="F8FAFC"/>
                </a:solidFill>
                <a:latin typeface="Aptos"/>
              </a:defRPr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RULER 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08392" y="5120640"/>
            <a:ext cx="3867911" cy="585215"/>
          </a:xfrm>
          <a:prstGeom prst="roundRect">
            <a:avLst/>
          </a:prstGeom>
          <a:solidFill>
            <a:srgbClr val="142136"/>
          </a:solidFill>
          <a:ln>
            <a:solidFill>
              <a:srgbClr val="31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0">
                <a:solidFill>
                  <a:srgbClr val="F8FAFC"/>
                </a:solidFill>
                <a:latin typeface="Aptos"/>
              </a:defRPr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LongBench v2 · GraphWalks BFS · NoLiMa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760719"/>
            <a:ext cx="1929384" cy="585215"/>
          </a:xfrm>
          <a:prstGeom prst="roundRect">
            <a:avLst/>
          </a:prstGeom>
          <a:solidFill>
            <a:srgbClr val="1A2940"/>
          </a:solidFill>
          <a:ln>
            <a:solidFill>
              <a:srgbClr val="31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FB923C"/>
                </a:solidFill>
                <a:latin typeface="Aptos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B923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Agents &amp; Tool Use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96312" y="5760719"/>
            <a:ext cx="2176272" cy="585215"/>
          </a:xfrm>
          <a:prstGeom prst="roundRect">
            <a:avLst/>
          </a:prstGeom>
          <a:solidFill>
            <a:srgbClr val="142136"/>
          </a:solidFill>
          <a:ln>
            <a:solidFill>
              <a:srgbClr val="31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0">
                <a:solidFill>
                  <a:srgbClr val="F8FAFC"/>
                </a:solidFill>
                <a:latin typeface="Aptos"/>
              </a:defRPr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τ²-Bench 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36592" y="5760719"/>
            <a:ext cx="2907792" cy="585215"/>
          </a:xfrm>
          <a:prstGeom prst="roundRect">
            <a:avLst/>
          </a:prstGeom>
          <a:solidFill>
            <a:srgbClr val="142136"/>
          </a:solidFill>
          <a:ln>
            <a:solidFill>
              <a:srgbClr val="31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0">
                <a:solidFill>
                  <a:srgbClr val="F8FAFC"/>
                </a:solidFill>
                <a:latin typeface="Aptos"/>
              </a:defRPr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MCP Atlas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08392" y="5760719"/>
            <a:ext cx="3867911" cy="585215"/>
          </a:xfrm>
          <a:prstGeom prst="roundRect">
            <a:avLst/>
          </a:prstGeom>
          <a:solidFill>
            <a:srgbClr val="142136"/>
          </a:solidFill>
          <a:ln>
            <a:solidFill>
              <a:srgbClr val="31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0">
                <a:solidFill>
                  <a:srgbClr val="F8FAFC"/>
                </a:solidFill>
                <a:latin typeface="Aptos"/>
              </a:defRPr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AutomationBench · BrowseComp · Toolathlon · OSWorld · BenchCAD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199632"/>
            <a:ext cx="10789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10" b="0">
                <a:solidFill>
                  <a:srgbClr val="A5B3CA"/>
                </a:solidFill>
                <a:latin typeface="Aptos"/>
              </a:defRPr>
            </a:pPr>
            <a:r>
              <a:rPr kumimoji="0" sz="910" b="0" i="0" u="none" strike="noStrike" kern="1200" cap="none" spc="0" normalizeH="0" baseline="0" noProof="0">
                <a:ln>
                  <a:noFill/>
                </a:ln>
                <a:solidFill>
                  <a:srgbClr val="A5B3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✓ = already evaluated / established HHRI-AI baseline     •     Full benchmark inventory and detailed status remain in FoxBrain EvalHub.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492</Words>
  <Application>Microsoft Office PowerPoint</Application>
  <PresentationFormat>Widescreen</PresentationFormat>
  <Paragraphs>148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Calibri</vt:lpstr>
      <vt:lpstr>Cambria</vt:lpstr>
      <vt:lpstr>Office Theme</vt:lpstr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Muhammad Saqlain</cp:lastModifiedBy>
  <cp:revision>9</cp:revision>
  <dcterms:modified xsi:type="dcterms:W3CDTF">2026-09-30T06:20:20Z</dcterms:modified>
</cp:coreProperties>
</file>