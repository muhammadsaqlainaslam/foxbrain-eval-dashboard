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3566160"/>
            <a:ext cx="-1572172" cy="-421262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754880" y="3566160"/>
            <a:ext cx="-251182" cy="-1608134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0" y="3566160"/>
            <a:ext cx="1368824" cy="-880629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754880" y="3566160"/>
            <a:ext cx="1627609" cy="8696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754880" y="3566160"/>
            <a:ext cx="650877" cy="1491826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754880" y="3566160"/>
            <a:ext cx="-851177" cy="1387330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754880" y="3566160"/>
            <a:ext cx="-1576583" cy="404439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310128" y="2121408"/>
            <a:ext cx="2889504" cy="2889504"/>
          </a:xfrm>
          <a:prstGeom prst="ellipse">
            <a:avLst/>
          </a:prstGeom>
          <a:solidFill>
            <a:srgbClr val="B8860B">
              <a:alpha val="22000"/>
            </a:srgbClr>
          </a:solidFill>
          <a:ln w="19050">
            <a:solidFill>
              <a:srgbClr val="B8860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5072" y="2816352"/>
            <a:ext cx="1499616" cy="1499616"/>
          </a:xfrm>
          <a:prstGeom prst="ellipse">
            <a:avLst/>
          </a:prstGeom>
          <a:solidFill>
            <a:srgbClr val="CC3322">
              <a:alpha val="12000"/>
            </a:srgbClr>
          </a:solidFill>
          <a:ln w="19050">
            <a:solidFill>
              <a:srgbClr val="CC3322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3845" y="402859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9088"/>
                </a:solidFill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430101" y="464219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D060"/>
                </a:solidFill>
              </a:rPr>
              <a:t>HIGH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45396" y="3260924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4832" y="3320360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54540" y="329750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566320" y="3114932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00484" y="307652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3665248" y="3031549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9411" y="299314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3937937" y="2662893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72100" y="262448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4333572" y="2431078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67735" y="239267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709485" y="3092570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3648" y="305416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874159" y="3129416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8322" y="309101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011100" y="3228018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45263" y="318961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4722607" y="2370313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56770" y="233190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5170090" y="2470438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04253" y="243203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5542211" y="2738377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76374" y="269997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030736" y="3320621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90172" y="3380057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39880" y="335719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712959" y="2980117"/>
            <a:ext cx="106070" cy="106070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47122" y="294171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5799324" y="3193769"/>
            <a:ext cx="106070" cy="106070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33487" y="31553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5841078" y="3420402"/>
            <a:ext cx="106070" cy="106070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75241" y="338199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751713" y="3641033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11149" y="3700469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760857" y="367760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5332539" y="4466369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66702" y="44279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812879" y="3918829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47043" y="38804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597672" y="3857754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57108" y="3917190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606816" y="389433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4535703" y="3899546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469866" y="386114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5003570" y="4615582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937733" y="4577177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750685" y="4655081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684848" y="461667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495351" y="4637318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429514" y="4598913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250372" y="4563183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184535" y="452477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4367076" y="3768954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26512" y="3828390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376220" y="380553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4363412" y="3762900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297575" y="372449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4234178" y="3588882"/>
            <a:ext cx="256032" cy="256032"/>
          </a:xfrm>
          <a:prstGeom prst="ellipse">
            <a:avLst/>
          </a:prstGeom>
          <a:solidFill>
            <a:srgbClr val="00E5A0">
              <a:alpha val="38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3614" y="3648318"/>
            <a:ext cx="137160" cy="137160"/>
          </a:xfrm>
          <a:prstGeom prst="ellipse">
            <a:avLst/>
          </a:prstGeom>
          <a:solidFill>
            <a:srgbClr val="00E5A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4243322" y="362545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995900" y="4412064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930063" y="437365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3782190" y="4191861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716353" y="415345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3634762" y="3922739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568926" y="388433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3576139" y="3711204"/>
            <a:ext cx="106070" cy="106070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510302" y="367279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1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3578320" y="3303028"/>
            <a:ext cx="106070" cy="106070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512483" y="32646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2</a:t>
            </a:r>
            <a:endParaRPr lang="en-US" sz="600" dirty="0"/>
          </a:p>
        </p:txBody>
      </p:sp>
      <p:sp>
        <p:nvSpPr>
          <p:cNvPr id="84" name="Text 82"/>
          <p:cNvSpPr txBox="1"/>
          <p:nvPr/>
        </p:nvSpPr>
        <p:spPr>
          <a:xfrm>
            <a:off x="3036047" y="21500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Reasoning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&amp; Math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4849777" y="1866733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Coding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&amp; SWE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5776010" y="29314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Long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Context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5565676" y="4326949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Multimodal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4043753" y="5080007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&amp; Tools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2806787" y="44006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Knowledge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&amp; Language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2478048" y="3392579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&amp; ML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778240" y="694944"/>
            <a:ext cx="3300984" cy="60167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869680" y="749808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E5A7E"/>
                </a:solidFill>
              </a:rPr>
              <a:t>BENCHMARKS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851392" y="987552"/>
            <a:ext cx="3209544" cy="0"/>
          </a:xfrm>
          <a:prstGeom prst="line">
            <a:avLst/>
          </a:prstGeom>
          <a:noFill/>
          <a:ln w="7620">
            <a:solidFill>
              <a:srgbClr val="1E3A5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14816" y="1033272"/>
            <a:ext cx="1627632" cy="196596"/>
          </a:xfrm>
          <a:prstGeom prst="rect">
            <a:avLst/>
          </a:prstGeom>
          <a:solidFill>
            <a:srgbClr val="E85D4A">
              <a:alpha val="1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814816" y="1033272"/>
            <a:ext cx="50292" cy="196596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8887968" y="106070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5D4A"/>
                </a:solidFill>
              </a:rPr>
              <a:t>Reasoning &amp; Math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860536" y="1284732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8970264" y="124815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1  HLE ✓</a:t>
            </a:r>
            <a:endParaRPr lang="en-US" sz="680" dirty="0"/>
          </a:p>
        </p:txBody>
      </p:sp>
      <p:sp>
        <p:nvSpPr>
          <p:cNvPr id="99" name="Shape 97"/>
          <p:cNvSpPr/>
          <p:nvPr/>
        </p:nvSpPr>
        <p:spPr>
          <a:xfrm>
            <a:off x="8860536" y="1432865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8970264" y="139628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FrontierMath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8860536" y="1580998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8970264" y="154442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AIME 2025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8860536" y="1729130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8970264" y="169255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AIME 2026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8860536" y="1877263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8970264" y="1840687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ARC-AGI-2</a:t>
            </a:r>
            <a:endParaRPr lang="en-US" sz="680" dirty="0"/>
          </a:p>
        </p:txBody>
      </p:sp>
      <p:sp>
        <p:nvSpPr>
          <p:cNvPr id="107" name="Shape 105"/>
          <p:cNvSpPr/>
          <p:nvPr/>
        </p:nvSpPr>
        <p:spPr>
          <a:xfrm>
            <a:off x="8814816" y="2054657"/>
            <a:ext cx="1627632" cy="196596"/>
          </a:xfrm>
          <a:prstGeom prst="rect">
            <a:avLst/>
          </a:prstGeom>
          <a:solidFill>
            <a:srgbClr val="4A90D9">
              <a:alpha val="18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814816" y="2054657"/>
            <a:ext cx="50292" cy="19659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8887968" y="2082089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</a:rPr>
              <a:t>Coding &amp; SWE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8860536" y="2306117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8970264" y="2269541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1  SWE-Bench Pro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8860536" y="2454250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8970264" y="241767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Terminal-Bench 4.0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8860536" y="2602382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970264" y="256580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FrontierCode Diamond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8860536" y="2750515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8970264" y="271393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LiveCodeBench v6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8860536" y="2898648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8970264" y="286207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DeepSWE v1.1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8860536" y="3046781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8970264" y="3010205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6  SWE-Bench Multilingual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8814816" y="3224174"/>
            <a:ext cx="1627632" cy="196596"/>
          </a:xfrm>
          <a:prstGeom prst="rect">
            <a:avLst/>
          </a:prstGeom>
          <a:solidFill>
            <a:srgbClr val="7B68EE">
              <a:alpha val="18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814816" y="3224174"/>
            <a:ext cx="50292" cy="196596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8887968" y="3251606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68EE"/>
                </a:solidFill>
              </a:rPr>
              <a:t>Long Context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8860536" y="3475634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8970264" y="3439058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1  MRCR v2 ✓</a:t>
            </a:r>
            <a:endParaRPr lang="en-US" sz="680" dirty="0"/>
          </a:p>
        </p:txBody>
      </p:sp>
      <p:sp>
        <p:nvSpPr>
          <p:cNvPr id="127" name="Shape 125"/>
          <p:cNvSpPr/>
          <p:nvPr/>
        </p:nvSpPr>
        <p:spPr>
          <a:xfrm>
            <a:off x="8860536" y="3623767"/>
            <a:ext cx="82296" cy="82296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8970264" y="3587191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GraphWalks BFS</a:t>
            </a:r>
            <a:endParaRPr lang="en-US" sz="680" dirty="0"/>
          </a:p>
        </p:txBody>
      </p:sp>
      <p:sp>
        <p:nvSpPr>
          <p:cNvPr id="129" name="Shape 127"/>
          <p:cNvSpPr/>
          <p:nvPr/>
        </p:nvSpPr>
        <p:spPr>
          <a:xfrm>
            <a:off x="8860536" y="3771900"/>
            <a:ext cx="82296" cy="82296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8970264" y="373532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NoLiMa</a:t>
            </a:r>
            <a:endParaRPr lang="en-US" sz="680" dirty="0"/>
          </a:p>
        </p:txBody>
      </p:sp>
      <p:sp>
        <p:nvSpPr>
          <p:cNvPr id="131" name="Shape 129"/>
          <p:cNvSpPr/>
          <p:nvPr/>
        </p:nvSpPr>
        <p:spPr>
          <a:xfrm>
            <a:off x="8860536" y="3920033"/>
            <a:ext cx="82296" cy="82296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8970264" y="3883457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RULER</a:t>
            </a:r>
            <a:endParaRPr lang="en-US" sz="680" dirty="0"/>
          </a:p>
        </p:txBody>
      </p:sp>
      <p:sp>
        <p:nvSpPr>
          <p:cNvPr id="133" name="Shape 131"/>
          <p:cNvSpPr/>
          <p:nvPr/>
        </p:nvSpPr>
        <p:spPr>
          <a:xfrm>
            <a:off x="8814816" y="4097426"/>
            <a:ext cx="1627632" cy="196596"/>
          </a:xfrm>
          <a:prstGeom prst="rect">
            <a:avLst/>
          </a:prstGeom>
          <a:solidFill>
            <a:srgbClr val="F0A500">
              <a:alpha val="18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8814816" y="4097426"/>
            <a:ext cx="50292" cy="1965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8887968" y="4124858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Multimodal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8860536" y="4348886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8970264" y="4312310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1  MathVista ✓</a:t>
            </a:r>
            <a:endParaRPr lang="en-US" sz="680" dirty="0"/>
          </a:p>
        </p:txBody>
      </p:sp>
      <p:sp>
        <p:nvSpPr>
          <p:cNvPr id="138" name="Shape 136"/>
          <p:cNvSpPr/>
          <p:nvPr/>
        </p:nvSpPr>
        <p:spPr>
          <a:xfrm>
            <a:off x="8860536" y="4497019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8970264" y="4460443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MMMU-Pro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10479024" y="1033272"/>
            <a:ext cx="1627632" cy="196596"/>
          </a:xfrm>
          <a:prstGeom prst="rect">
            <a:avLst/>
          </a:prstGeom>
          <a:solidFill>
            <a:srgbClr val="3DAA6E">
              <a:alpha val="18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10479024" y="1033272"/>
            <a:ext cx="50292" cy="196596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552176" y="106070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AA6E"/>
                </a:solidFill>
              </a:rPr>
              <a:t>Agents &amp; Tools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0524744" y="1284732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10634472" y="124815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1  MCP Atlas</a:t>
            </a:r>
            <a:endParaRPr lang="en-US" sz="680" dirty="0"/>
          </a:p>
        </p:txBody>
      </p:sp>
      <p:sp>
        <p:nvSpPr>
          <p:cNvPr id="145" name="Shape 143"/>
          <p:cNvSpPr/>
          <p:nvPr/>
        </p:nvSpPr>
        <p:spPr>
          <a:xfrm>
            <a:off x="10524744" y="1432865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10634472" y="139628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2  tau2-bench ✓</a:t>
            </a:r>
            <a:endParaRPr lang="en-US" sz="680" dirty="0"/>
          </a:p>
        </p:txBody>
      </p:sp>
      <p:sp>
        <p:nvSpPr>
          <p:cNvPr id="147" name="Shape 145"/>
          <p:cNvSpPr/>
          <p:nvPr/>
        </p:nvSpPr>
        <p:spPr>
          <a:xfrm>
            <a:off x="10524744" y="1580998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10634472" y="154442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Agents Last Exam</a:t>
            </a:r>
            <a:endParaRPr lang="en-US" sz="680" dirty="0"/>
          </a:p>
        </p:txBody>
      </p:sp>
      <p:sp>
        <p:nvSpPr>
          <p:cNvPr id="149" name="Shape 147"/>
          <p:cNvSpPr/>
          <p:nvPr/>
        </p:nvSpPr>
        <p:spPr>
          <a:xfrm>
            <a:off x="10524744" y="1729130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10634472" y="169255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BrowseComp</a:t>
            </a:r>
            <a:endParaRPr lang="en-US" sz="680" dirty="0"/>
          </a:p>
        </p:txBody>
      </p:sp>
      <p:sp>
        <p:nvSpPr>
          <p:cNvPr id="151" name="Shape 149"/>
          <p:cNvSpPr/>
          <p:nvPr/>
        </p:nvSpPr>
        <p:spPr>
          <a:xfrm>
            <a:off x="10524744" y="1877263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10634472" y="1840687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OSWorld 2.0</a:t>
            </a:r>
            <a:endParaRPr lang="en-US" sz="680" dirty="0"/>
          </a:p>
        </p:txBody>
      </p:sp>
      <p:sp>
        <p:nvSpPr>
          <p:cNvPr id="153" name="Shape 151"/>
          <p:cNvSpPr/>
          <p:nvPr/>
        </p:nvSpPr>
        <p:spPr>
          <a:xfrm>
            <a:off x="10524744" y="2025396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10634472" y="1988820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6  BFCL v4</a:t>
            </a:r>
            <a:endParaRPr lang="en-US" sz="680" dirty="0"/>
          </a:p>
        </p:txBody>
      </p:sp>
      <p:sp>
        <p:nvSpPr>
          <p:cNvPr id="155" name="Shape 153"/>
          <p:cNvSpPr/>
          <p:nvPr/>
        </p:nvSpPr>
        <p:spPr>
          <a:xfrm>
            <a:off x="10524744" y="2173529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10634472" y="2136953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7  Toolathlon</a:t>
            </a:r>
            <a:endParaRPr lang="en-US" sz="680" dirty="0"/>
          </a:p>
        </p:txBody>
      </p:sp>
      <p:sp>
        <p:nvSpPr>
          <p:cNvPr id="157" name="Shape 155"/>
          <p:cNvSpPr/>
          <p:nvPr/>
        </p:nvSpPr>
        <p:spPr>
          <a:xfrm>
            <a:off x="10479024" y="2350922"/>
            <a:ext cx="1627632" cy="196596"/>
          </a:xfrm>
          <a:prstGeom prst="rect">
            <a:avLst/>
          </a:prstGeom>
          <a:solidFill>
            <a:srgbClr val="9B59B6">
              <a:alpha val="18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10479024" y="2350922"/>
            <a:ext cx="50292" cy="19659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10552176" y="237835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59B6"/>
                </a:solidFill>
              </a:rPr>
              <a:t>Knowledge &amp; Language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10524744" y="2602382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10634472" y="256580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1  TMMLU+ ✓</a:t>
            </a:r>
            <a:endParaRPr lang="en-US" sz="680" dirty="0"/>
          </a:p>
        </p:txBody>
      </p:sp>
      <p:sp>
        <p:nvSpPr>
          <p:cNvPr id="162" name="Shape 160"/>
          <p:cNvSpPr/>
          <p:nvPr/>
        </p:nvSpPr>
        <p:spPr>
          <a:xfrm>
            <a:off x="10524744" y="2750515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10634472" y="271393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TW-LegalBench</a:t>
            </a:r>
            <a:endParaRPr lang="en-US" sz="680" dirty="0"/>
          </a:p>
        </p:txBody>
      </p:sp>
      <p:sp>
        <p:nvSpPr>
          <p:cNvPr id="164" name="Shape 162"/>
          <p:cNvSpPr/>
          <p:nvPr/>
        </p:nvSpPr>
        <p:spPr>
          <a:xfrm>
            <a:off x="10524744" y="2898648"/>
            <a:ext cx="82296" cy="8229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10634472" y="286207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0E5A0"/>
                </a:solidFill>
              </a:rPr>
              <a:t>3  AIEC ✓</a:t>
            </a:r>
            <a:endParaRPr lang="en-US" sz="680" dirty="0"/>
          </a:p>
        </p:txBody>
      </p:sp>
      <p:sp>
        <p:nvSpPr>
          <p:cNvPr id="166" name="Shape 164"/>
          <p:cNvSpPr/>
          <p:nvPr/>
        </p:nvSpPr>
        <p:spPr>
          <a:xfrm>
            <a:off x="10524744" y="3046781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10634472" y="3010205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MMMLU</a:t>
            </a:r>
            <a:endParaRPr lang="en-US" sz="680" dirty="0"/>
          </a:p>
        </p:txBody>
      </p:sp>
      <p:sp>
        <p:nvSpPr>
          <p:cNvPr id="168" name="Shape 166"/>
          <p:cNvSpPr/>
          <p:nvPr/>
        </p:nvSpPr>
        <p:spPr>
          <a:xfrm>
            <a:off x="10524744" y="3194914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9" name="Text 167"/>
          <p:cNvSpPr txBox="1"/>
          <p:nvPr/>
        </p:nvSpPr>
        <p:spPr>
          <a:xfrm>
            <a:off x="10634472" y="3158338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GDPval-AA</a:t>
            </a:r>
            <a:endParaRPr lang="en-US" sz="680" dirty="0"/>
          </a:p>
        </p:txBody>
      </p:sp>
      <p:sp>
        <p:nvSpPr>
          <p:cNvPr id="170" name="Shape 168"/>
          <p:cNvSpPr/>
          <p:nvPr/>
        </p:nvSpPr>
        <p:spPr>
          <a:xfrm>
            <a:off x="10524744" y="3343046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10634472" y="3306470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6  IFEval</a:t>
            </a:r>
            <a:endParaRPr lang="en-US" sz="680" dirty="0"/>
          </a:p>
        </p:txBody>
      </p:sp>
      <p:sp>
        <p:nvSpPr>
          <p:cNvPr id="172" name="Shape 170"/>
          <p:cNvSpPr/>
          <p:nvPr/>
        </p:nvSpPr>
        <p:spPr>
          <a:xfrm>
            <a:off x="10479024" y="3520440"/>
            <a:ext cx="1627632" cy="196596"/>
          </a:xfrm>
          <a:prstGeom prst="rect">
            <a:avLst/>
          </a:prstGeom>
          <a:solidFill>
            <a:srgbClr val="E8A020">
              <a:alpha val="18000"/>
            </a:srgbClr>
          </a:solidFill>
          <a:ln/>
        </p:spPr>
      </p:sp>
      <p:sp>
        <p:nvSpPr>
          <p:cNvPr id="173" name="Shape 171"/>
          <p:cNvSpPr/>
          <p:nvPr/>
        </p:nvSpPr>
        <p:spPr>
          <a:xfrm>
            <a:off x="10479024" y="3520440"/>
            <a:ext cx="50292" cy="19659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10552176" y="3547872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020"/>
                </a:solidFill>
              </a:rPr>
              <a:t>Data &amp; ML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10524744" y="3771900"/>
            <a:ext cx="82296" cy="8229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6" name="Text 174"/>
          <p:cNvSpPr txBox="1"/>
          <p:nvPr/>
        </p:nvSpPr>
        <p:spPr>
          <a:xfrm>
            <a:off x="10634472" y="373532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1  MLE-Bench</a:t>
            </a:r>
            <a:endParaRPr lang="en-US" sz="680" dirty="0"/>
          </a:p>
        </p:txBody>
      </p:sp>
      <p:sp>
        <p:nvSpPr>
          <p:cNvPr id="177" name="Shape 175"/>
          <p:cNvSpPr/>
          <p:nvPr/>
        </p:nvSpPr>
        <p:spPr>
          <a:xfrm>
            <a:off x="10524744" y="3920033"/>
            <a:ext cx="82296" cy="8229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10634472" y="3883457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2  DSBench</a:t>
            </a:r>
            <a:endParaRPr lang="en-US" sz="680" dirty="0"/>
          </a:p>
        </p:txBody>
      </p:sp>
      <p:sp>
        <p:nvSpPr>
          <p:cNvPr id="179" name="Shape 177"/>
          <p:cNvSpPr/>
          <p:nvPr/>
        </p:nvSpPr>
        <p:spPr>
          <a:xfrm>
            <a:off x="10424160" y="1005840"/>
            <a:ext cx="0" cy="566928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320040" y="16459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FoxBrain Priority Radar — Act Now</a:t>
            </a:r>
            <a:endParaRPr lang="en-US" sz="2000" dirty="0"/>
          </a:p>
        </p:txBody>
      </p:sp>
      <p:sp>
        <p:nvSpPr>
          <p:cNvPr id="181" name="Text 179"/>
          <p:cNvSpPr txBox="1"/>
          <p:nvPr/>
        </p:nvSpPr>
        <p:spPr>
          <a:xfrm>
            <a:off x="320040" y="60350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AAF"/>
                </a:solidFill>
              </a:rPr>
              <a:t>CRITICAL &amp; HIGH benchmarks only · Closer to center = evaluate first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11503152" y="164592"/>
            <a:ext cx="548640" cy="658368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11484864" y="19202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</a:t>
            </a:r>
            <a:endParaRPr lang="en-US" sz="900" dirty="0"/>
          </a:p>
        </p:txBody>
      </p:sp>
      <p:sp>
        <p:nvSpPr>
          <p:cNvPr id="184" name="Text 182"/>
          <p:cNvSpPr txBox="1"/>
          <p:nvPr/>
        </p:nvSpPr>
        <p:spPr>
          <a:xfrm>
            <a:off x="11484864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B5FD"/>
                </a:solidFill>
              </a:rPr>
              <a:t>BRAIN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20040" y="6464808"/>
            <a:ext cx="118872" cy="118872"/>
          </a:xfrm>
          <a:prstGeom prst="ellipse">
            <a:avLst/>
          </a:prstGeom>
          <a:solidFill>
            <a:srgbClr val="FF9088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493776" y="64465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CRITICAL  Evaluate now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2651760" y="6464808"/>
            <a:ext cx="118872" cy="118872"/>
          </a:xfrm>
          <a:prstGeom prst="ellipse">
            <a:avLst/>
          </a:prstGeom>
          <a:solidFill>
            <a:srgbClr val="FFD060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2825496" y="64465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HIGH  Near-term priority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4983480" y="6464808"/>
            <a:ext cx="118872" cy="11887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157216" y="64465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✓ Done  Already evaluated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320040" y="6675120"/>
            <a:ext cx="1152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52"/>
                </a:solidFill>
              </a:rPr>
              <a:t>Full SOTA scores &amp; headroom at FoxBrain EvalHub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3566160"/>
            <a:ext cx="-2826376" cy="-757325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754880" y="3566160"/>
            <a:ext cx="-451562" cy="-2891027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754880" y="3566160"/>
            <a:ext cx="2460806" cy="-1583154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754880" y="3566160"/>
            <a:ext cx="2926038" cy="15634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754880" y="3566160"/>
            <a:ext cx="1170116" cy="2681934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754880" y="3566160"/>
            <a:ext cx="-1530205" cy="2494076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754880" y="3566160"/>
            <a:ext cx="-2834307" cy="727081"/>
          </a:xfrm>
          <a:prstGeom prst="line">
            <a:avLst/>
          </a:prstGeom>
          <a:noFill/>
          <a:ln w="6350">
            <a:solidFill>
              <a:srgbClr val="1E3A5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11680" y="822960"/>
            <a:ext cx="5486400" cy="5486400"/>
          </a:xfrm>
          <a:prstGeom prst="ellipse">
            <a:avLst/>
          </a:prstGeom>
          <a:solidFill>
            <a:srgbClr val="111A28">
              <a:alpha val="35000"/>
            </a:srgbClr>
          </a:solidFill>
          <a:ln w="19050">
            <a:solidFill>
              <a:srgbClr val="111A2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63040"/>
            <a:ext cx="4206240" cy="4206240"/>
          </a:xfrm>
          <a:prstGeom prst="ellipse">
            <a:avLst/>
          </a:prstGeom>
          <a:solidFill>
            <a:srgbClr val="1A3E5A">
              <a:alpha val="22000"/>
            </a:srgbClr>
          </a:solidFill>
          <a:ln w="19050">
            <a:solidFill>
              <a:srgbClr val="1A3E5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9187" y="522349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0B8E8"/>
                </a:solidFill>
              </a:rPr>
              <a:t>MEDIUM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039686" y="5788653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A8A8E8"/>
                </a:solidFill>
              </a:rPr>
              <a:t>MONITOR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85703" y="2159557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866" y="212115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462795" y="2472920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96959" y="243451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906376" y="1175905"/>
            <a:ext cx="106070" cy="106070"/>
          </a:xfrm>
          <a:prstGeom prst="ellipse">
            <a:avLst/>
          </a:prstGeom>
          <a:solidFill>
            <a:srgbClr val="E85D4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539" y="113750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734898" y="1693769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9061" y="165536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039708" y="2279727"/>
            <a:ext cx="106070" cy="106070"/>
          </a:xfrm>
          <a:prstGeom prst="ellipse">
            <a:avLst/>
          </a:prstGeom>
          <a:solidFill>
            <a:srgbClr val="4A90D9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73871" y="224132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6449032" y="3004710"/>
            <a:ext cx="106070" cy="106070"/>
          </a:xfrm>
          <a:prstGeom prst="ellipse">
            <a:avLst/>
          </a:prstGeom>
          <a:solidFill>
            <a:srgbClr val="7B68E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83195" y="2966305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492604" y="3836124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26768" y="379771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6417323" y="4119989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1486" y="408158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4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297357" y="4388046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1521" y="4349642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5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135833" y="4633315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9996" y="459491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6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5936957" y="4849405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71120" y="481100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5705910" y="5030689"/>
            <a:ext cx="106070" cy="106070"/>
          </a:xfrm>
          <a:prstGeom prst="ellipse">
            <a:avLst/>
          </a:prstGeom>
          <a:solidFill>
            <a:srgbClr val="F0A50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40073" y="499228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575559" y="5328393"/>
            <a:ext cx="106070" cy="106070"/>
          </a:xfrm>
          <a:prstGeom prst="ellipse">
            <a:avLst/>
          </a:prstGeom>
          <a:solidFill>
            <a:srgbClr val="3DAA6E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09722" y="5289989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577981" y="4944236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12144" y="4905831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7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003050" y="4165231"/>
            <a:ext cx="106070" cy="106070"/>
          </a:xfrm>
          <a:prstGeom prst="ellipse">
            <a:avLst/>
          </a:prstGeom>
          <a:solidFill>
            <a:srgbClr val="9B59B6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37213" y="412682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8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2882215" y="3503403"/>
            <a:ext cx="106070" cy="106070"/>
          </a:xfrm>
          <a:prstGeom prst="ellipse">
            <a:avLst/>
          </a:prstGeom>
          <a:solidFill>
            <a:srgbClr val="E8A020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816378" y="346499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3</a:t>
            </a:r>
            <a:endParaRPr lang="en-US" sz="600" dirty="0"/>
          </a:p>
        </p:txBody>
      </p:sp>
      <p:sp>
        <p:nvSpPr>
          <p:cNvPr id="46" name="Text 44"/>
          <p:cNvSpPr txBox="1"/>
          <p:nvPr/>
        </p:nvSpPr>
        <p:spPr>
          <a:xfrm>
            <a:off x="2168247" y="1184165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Reasoning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5D4A"/>
                </a:solidFill>
              </a:rPr>
              <a:t>&amp; Math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381703" y="682241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Coding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A90D9"/>
                </a:solidFill>
              </a:rPr>
              <a:t>&amp; SWE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7022746" y="2568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Long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7B68EE"/>
                </a:solidFill>
              </a:rPr>
              <a:t>Context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650090" y="504110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</a:rPr>
              <a:t>Multimodal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3953639" y="63642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Agents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DAA6E"/>
                </a:solidFill>
              </a:rPr>
              <a:t>&amp; Tools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762059" y="5171713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Knowledge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&amp; Language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1179619" y="3385641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8A020"/>
                </a:solidFill>
              </a:rPr>
              <a:t>&amp; ML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778240" y="694944"/>
            <a:ext cx="3300984" cy="6016752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69680" y="749808"/>
            <a:ext cx="3200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E5A7E"/>
                </a:solidFill>
              </a:rPr>
              <a:t>BENCHMARKS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851392" y="987552"/>
            <a:ext cx="3209544" cy="0"/>
          </a:xfrm>
          <a:prstGeom prst="line">
            <a:avLst/>
          </a:prstGeom>
          <a:noFill/>
          <a:ln w="7620">
            <a:solidFill>
              <a:srgbClr val="1E3A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14816" y="1033272"/>
            <a:ext cx="1627632" cy="196596"/>
          </a:xfrm>
          <a:prstGeom prst="rect">
            <a:avLst/>
          </a:prstGeom>
          <a:solidFill>
            <a:srgbClr val="E85D4A">
              <a:alpha val="1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14816" y="1033272"/>
            <a:ext cx="50292" cy="196596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887968" y="106070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5D4A"/>
                </a:solidFill>
              </a:rPr>
              <a:t>Reasoning &amp; Math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8860536" y="1284732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970264" y="124815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6  MATH-500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8860536" y="1432865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970264" y="139628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7  GPQA Diamond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8860536" y="1580998"/>
            <a:ext cx="82296" cy="82296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970264" y="154442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8  MMLU-Pro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8814816" y="1758391"/>
            <a:ext cx="1627632" cy="196596"/>
          </a:xfrm>
          <a:prstGeom prst="rect">
            <a:avLst/>
          </a:prstGeom>
          <a:solidFill>
            <a:srgbClr val="4A90D9">
              <a:alpha val="1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814816" y="1758391"/>
            <a:ext cx="50292" cy="19659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887968" y="1785823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0D9"/>
                </a:solidFill>
              </a:rPr>
              <a:t>Coding &amp; SWE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860536" y="2009851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970264" y="1973275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7  BigCodeBench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8860536" y="2157984"/>
            <a:ext cx="82296" cy="82296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970264" y="2121408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8  SciCode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8814816" y="2335378"/>
            <a:ext cx="1627632" cy="196596"/>
          </a:xfrm>
          <a:prstGeom prst="rect">
            <a:avLst/>
          </a:prstGeom>
          <a:solidFill>
            <a:srgbClr val="7B68EE">
              <a:alpha val="1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814816" y="2335378"/>
            <a:ext cx="50292" cy="196596"/>
          </a:xfrm>
          <a:prstGeom prst="rect">
            <a:avLst/>
          </a:prstGeom>
          <a:solidFill>
            <a:srgbClr val="7B68EE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887968" y="2362810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B68EE"/>
                </a:solidFill>
              </a:rPr>
              <a:t>Long Context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860536" y="2586838"/>
            <a:ext cx="82296" cy="82296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8970264" y="255026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LongBench v2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8814816" y="2764231"/>
            <a:ext cx="1627632" cy="196596"/>
          </a:xfrm>
          <a:prstGeom prst="rect">
            <a:avLst/>
          </a:prstGeom>
          <a:solidFill>
            <a:srgbClr val="F0A500">
              <a:alpha val="1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814816" y="2764231"/>
            <a:ext cx="50292" cy="19659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8887968" y="2791663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A500"/>
                </a:solidFill>
              </a:rPr>
              <a:t>Multimodal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860536" y="3015691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8970264" y="2979115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CharXiv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8860536" y="3163824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970264" y="3127248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4  CharXiv-R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8860536" y="3311957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8970264" y="3275381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5  DocVQA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8860536" y="3460090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970264" y="3423514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6  MathVision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8860536" y="3608222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970264" y="357164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7  MMVU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8860536" y="3756355"/>
            <a:ext cx="82296" cy="8229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8970264" y="3719779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8  Chartography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10479024" y="1033272"/>
            <a:ext cx="1627632" cy="196596"/>
          </a:xfrm>
          <a:prstGeom prst="rect">
            <a:avLst/>
          </a:prstGeom>
          <a:solidFill>
            <a:srgbClr val="3DAA6E">
              <a:alpha val="1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479024" y="1033272"/>
            <a:ext cx="50292" cy="196596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552176" y="106070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AA6E"/>
                </a:solidFill>
              </a:rPr>
              <a:t>Agents &amp; Tools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10524744" y="1284732"/>
            <a:ext cx="82296" cy="82296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634472" y="124815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8  APEX-Agents</a:t>
            </a:r>
            <a:endParaRPr lang="en-US" sz="680" dirty="0"/>
          </a:p>
        </p:txBody>
      </p:sp>
      <p:sp>
        <p:nvSpPr>
          <p:cNvPr id="97" name="Shape 95"/>
          <p:cNvSpPr/>
          <p:nvPr/>
        </p:nvSpPr>
        <p:spPr>
          <a:xfrm>
            <a:off x="10479024" y="1462126"/>
            <a:ext cx="1627632" cy="196596"/>
          </a:xfrm>
          <a:prstGeom prst="rect">
            <a:avLst/>
          </a:prstGeom>
          <a:solidFill>
            <a:srgbClr val="9B59B6">
              <a:alpha val="1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10479024" y="1462126"/>
            <a:ext cx="50292" cy="19659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552176" y="1489558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B59B6"/>
                </a:solidFill>
              </a:rPr>
              <a:t>Knowledge &amp; Language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10524744" y="1713586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0634472" y="1677010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7  SimpleQA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10524744" y="1861718"/>
            <a:ext cx="82296" cy="82296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634472" y="1825142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8  DRCD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10479024" y="2039112"/>
            <a:ext cx="1627632" cy="196596"/>
          </a:xfrm>
          <a:prstGeom prst="rect">
            <a:avLst/>
          </a:prstGeom>
          <a:solidFill>
            <a:srgbClr val="E8A020">
              <a:alpha val="18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79024" y="2039112"/>
            <a:ext cx="50292" cy="19659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552176" y="2066544"/>
            <a:ext cx="153619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A020"/>
                </a:solidFill>
              </a:rPr>
              <a:t>Data &amp; ML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10524744" y="2290572"/>
            <a:ext cx="82296" cy="82296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634472" y="2253996"/>
            <a:ext cx="145389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AAC5"/>
                </a:solidFill>
              </a:rPr>
              <a:t>3  SpreadsheetBench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>
            <a:off x="10424160" y="1005840"/>
            <a:ext cx="0" cy="5669280"/>
          </a:xfrm>
          <a:prstGeom prst="line">
            <a:avLst/>
          </a:prstGeom>
          <a:noFill/>
          <a:ln w="6350">
            <a:solidFill>
              <a:srgbClr val="1E3A52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320040" y="16459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FoxBrain Priority Radar — Roadmap</a:t>
            </a:r>
            <a:endParaRPr lang="en-US" sz="2000" dirty="0"/>
          </a:p>
        </p:txBody>
      </p:sp>
      <p:sp>
        <p:nvSpPr>
          <p:cNvPr id="111" name="Text 109"/>
          <p:cNvSpPr txBox="1"/>
          <p:nvPr/>
        </p:nvSpPr>
        <p:spPr>
          <a:xfrm>
            <a:off x="320040" y="60350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AAF"/>
                </a:solidFill>
              </a:rPr>
              <a:t>MEDIUM &amp; MONITOR benchmarks · On-deck and emerging evaluations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11503152" y="164592"/>
            <a:ext cx="548640" cy="658368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11484864" y="19202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</a:t>
            </a:r>
            <a:endParaRPr lang="en-US" sz="900" dirty="0"/>
          </a:p>
        </p:txBody>
      </p:sp>
      <p:sp>
        <p:nvSpPr>
          <p:cNvPr id="114" name="Text 112"/>
          <p:cNvSpPr txBox="1"/>
          <p:nvPr/>
        </p:nvSpPr>
        <p:spPr>
          <a:xfrm>
            <a:off x="11484864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4B5FD"/>
                </a:solidFill>
              </a:rPr>
              <a:t>BRAIN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320040" y="6464808"/>
            <a:ext cx="118872" cy="118872"/>
          </a:xfrm>
          <a:prstGeom prst="ellipse">
            <a:avLst/>
          </a:prstGeom>
          <a:solidFill>
            <a:srgbClr val="70B8E8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493776" y="64465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MEDIUM  On roadmap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651760" y="6464808"/>
            <a:ext cx="118872" cy="118872"/>
          </a:xfrm>
          <a:prstGeom prst="ellipse">
            <a:avLst/>
          </a:prstGeom>
          <a:solidFill>
            <a:srgbClr val="A8A8E8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2825496" y="644652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AB5"/>
                </a:solidFill>
              </a:rPr>
              <a:t>MONITOR  Emerging / watch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320040" y="6675120"/>
            <a:ext cx="1152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52"/>
                </a:solidFill>
              </a:rPr>
              <a:t>Full SOTA scores &amp; headroom at FoxBrain EvalHub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FoxBrain Benchmark Roadmap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A8F"/>
                </a:solidFill>
              </a:rPr>
              <a:t>Priority reflects FoxBrain relevance — not benchmark popularity.  ✓ = already evaluated at HHRI-AI.  Full SOTA scores → FoxBrain EvalHub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607040" y="16459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60704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BRAIN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901952" cy="27432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051560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C8E8"/>
                </a:solidFill>
              </a:rPr>
              <a:t>CAPABILITY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1005840"/>
            <a:ext cx="2103120" cy="274320"/>
          </a:xfrm>
          <a:prstGeom prst="rect">
            <a:avLst/>
          </a:prstGeom>
          <a:solidFill>
            <a:srgbClr val="3D0D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95728" y="10515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9088"/>
                </a:solidFill>
              </a:rPr>
              <a:t>CRITICAL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62272" y="1005840"/>
            <a:ext cx="2432304" cy="274320"/>
          </a:xfrm>
          <a:prstGeom prst="rect">
            <a:avLst/>
          </a:prstGeom>
          <a:solidFill>
            <a:srgbClr val="2A1E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3712" y="10515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060"/>
                </a:solidFill>
              </a:rPr>
              <a:t>HIGH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49440" y="1005840"/>
            <a:ext cx="2322576" cy="274320"/>
          </a:xfrm>
          <a:prstGeom prst="rect">
            <a:avLst/>
          </a:prstGeom>
          <a:solidFill>
            <a:srgbClr val="0A1E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0" y="105156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0B8E8"/>
                </a:solidFill>
              </a:rPr>
              <a:t>MEDIUM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326880" y="1005840"/>
            <a:ext cx="2560320" cy="274320"/>
          </a:xfrm>
          <a:prstGeom prst="rect">
            <a:avLst/>
          </a:prstGeom>
          <a:solidFill>
            <a:srgbClr val="10122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10515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A8E8"/>
                </a:solidFill>
              </a:rPr>
              <a:t>MONITOR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316736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1591056"/>
            <a:ext cx="109728" cy="109728"/>
          </a:xfrm>
          <a:prstGeom prst="ellipse">
            <a:avLst/>
          </a:prstGeom>
          <a:solidFill>
            <a:srgbClr val="E85D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" y="149961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A"/>
                </a:solidFill>
              </a:rPr>
              <a:t>Reasoning &amp; Math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395728" y="140817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HLE ✓ · FrontierMath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1408176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AIME 2025 · AIME 2026 · ARC-AGI-2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1389888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MATH-500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13898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A8E8"/>
                </a:solidFill>
              </a:rPr>
              <a:t>GPQA Diamond · MMLU-Pro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975104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" y="2249424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" y="215798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90D9"/>
                </a:solidFill>
              </a:rPr>
              <a:t>Coding &amp; SWE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395728" y="206654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088"/>
                </a:solidFill>
              </a:rPr>
              <a:t>SWE-Bench Pro · Terminal-Bench 4.0 · FrontierCode Diamond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53712" y="206654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LiveCodeBench v6 · DeepSWE v1.1 · SWE-Bench Multilingual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2048256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BigCodeBench · SciCode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0" y="20482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2633472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2907792"/>
            <a:ext cx="109728" cy="109728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3504" y="281635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</a:rPr>
              <a:t>Long Context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395728" y="27249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MRCR v2 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2724912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GraphWalks BFS · NoLiMa · RULER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040880" y="2706624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LongBench v2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270662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91840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40" name="Shape 38"/>
          <p:cNvSpPr/>
          <p:nvPr/>
        </p:nvSpPr>
        <p:spPr>
          <a:xfrm>
            <a:off x="438912" y="3566160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3474720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Multimodal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395728" y="338328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53712" y="3383280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MathVista ✓ · MMMU-Pro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3364992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CharXiv · CharXiv-R · DocVQA · MathVision · MMVU · Chartography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0" y="336499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950208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4224528"/>
            <a:ext cx="109728" cy="109728"/>
          </a:xfrm>
          <a:prstGeom prst="ellipse">
            <a:avLst/>
          </a:prstGeom>
          <a:solidFill>
            <a:srgbClr val="3DAA6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03504" y="413308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AA6E"/>
                </a:solidFill>
              </a:rPr>
              <a:t>Agents &amp; Tools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395728" y="4041648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MCP Atlas · tau2-bench ✓ · Agents Last Exam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4553712" y="4041648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BrowseComp · OSWorld 2.0 · BFCL v4 · Toolathlon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040880" y="4023360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APEX-Agents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0" y="402336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608576"/>
            <a:ext cx="11521440" cy="658368"/>
          </a:xfrm>
          <a:prstGeom prst="rect">
            <a:avLst/>
          </a:prstGeom>
          <a:solidFill>
            <a:srgbClr val="0D1B28"/>
          </a:solidFill>
          <a:ln/>
        </p:spPr>
      </p:sp>
      <p:sp>
        <p:nvSpPr>
          <p:cNvPr id="54" name="Shape 52"/>
          <p:cNvSpPr/>
          <p:nvPr/>
        </p:nvSpPr>
        <p:spPr>
          <a:xfrm>
            <a:off x="438912" y="4882896"/>
            <a:ext cx="109728" cy="109728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03504" y="4791456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Knowledge &amp; Lang.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2395728" y="4700016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TMMLU+ ✓ · TW-LegalBench · AIEC ✓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553712" y="4700016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MMMLU · GDPval-AA · IFEval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7040880" y="4681728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SimpleQA · DRCD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0" y="468172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5266944"/>
            <a:ext cx="11521440" cy="658368"/>
          </a:xfrm>
          <a:prstGeom prst="rect">
            <a:avLst/>
          </a:prstGeom>
          <a:solidFill>
            <a:srgbClr val="112030"/>
          </a:solidFill>
          <a:ln/>
        </p:spPr>
      </p:sp>
      <p:sp>
        <p:nvSpPr>
          <p:cNvPr id="61" name="Shape 59"/>
          <p:cNvSpPr/>
          <p:nvPr/>
        </p:nvSpPr>
        <p:spPr>
          <a:xfrm>
            <a:off x="438912" y="5541264"/>
            <a:ext cx="109728" cy="1097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03504" y="5449824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</a:rPr>
              <a:t>Data &amp; ML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2395728" y="5358384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4553712" y="535838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</a:rPr>
              <a:t>MLE-Bench · DSBench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7040880" y="5340096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0B8E8"/>
                </a:solidFill>
              </a:rPr>
              <a:t>SpreadsheetBench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418320" y="534009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2"/>
                </a:solidFill>
              </a:rPr>
              <a:t>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95144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53128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40296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17736" y="1005840"/>
            <a:ext cx="0" cy="491947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" y="6071616"/>
            <a:ext cx="109728" cy="109728"/>
          </a:xfrm>
          <a:prstGeom prst="ellipse">
            <a:avLst/>
          </a:prstGeom>
          <a:solidFill>
            <a:srgbClr val="FF9088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179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CRITICAL — evaluate now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788920" y="6071616"/>
            <a:ext cx="109728" cy="109728"/>
          </a:xfrm>
          <a:prstGeom prst="ellipse">
            <a:avLst/>
          </a:prstGeom>
          <a:solidFill>
            <a:srgbClr val="FFD06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295351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HIGH — near-term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120640" y="6071616"/>
            <a:ext cx="109728" cy="109728"/>
          </a:xfrm>
          <a:prstGeom prst="ellipse">
            <a:avLst/>
          </a:prstGeom>
          <a:solidFill>
            <a:srgbClr val="70B8E8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28523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MEDIUM — on roadmap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452360" y="6071616"/>
            <a:ext cx="109728" cy="109728"/>
          </a:xfrm>
          <a:prstGeom prst="ellipse">
            <a:avLst/>
          </a:prstGeom>
          <a:solidFill>
            <a:srgbClr val="A8A8E8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761695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MONITOR — emerging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784080" y="6071616"/>
            <a:ext cx="109728" cy="109728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948672" y="605332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AAF"/>
                </a:solidFill>
              </a:rPr>
              <a:t>✓ Already evaluated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365760" y="6656832"/>
            <a:ext cx="1152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3A52"/>
                </a:solidFill>
              </a:rPr>
              <a:t>Recommended: Slide 1 for strategic discussion · Slide 2 for roadmap · Slide 3 for benchmark-level detail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2026-09-30T03:29:45Z</dcterms:created>
  <dcterms:modified xsi:type="dcterms:W3CDTF">2026-09-30T03:29:45Z</dcterms:modified>
</cp:coreProperties>
</file>